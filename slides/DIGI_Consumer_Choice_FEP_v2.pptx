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1"/>
  </p:sldMasterIdLst>
  <p:notesMasterIdLst>
    <p:notesMasterId r:id="rId12"/>
  </p:notesMasterIdLst>
  <p:sldIdLst>
    <p:sldId id="264" r:id="rId2"/>
    <p:sldId id="265" r:id="rId3"/>
    <p:sldId id="266" r:id="rId4"/>
    <p:sldId id="267" r:id="rId5"/>
    <p:sldId id="268" r:id="rId6"/>
    <p:sldId id="269" r:id="rId7"/>
    <p:sldId id="270" r:id="rId8"/>
    <p:sldId id="271" r:id="rId9"/>
    <p:sldId id="272" r:id="rId10"/>
    <p:sldId id="273" r:id="rId11"/>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313F"/>
    <a:srgbClr val="E6343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Destaqu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Destaqu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Estilo com Tema 1 - Destaqu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Estilo com Tema 1 - Destaque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Estilo com Tema 1 - Destaque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Estilo com Tema 1 - Destaque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Estilo com Tema 1 - Destaque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Estilo com Tema 1 - Destaque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Sem Estilo, Sem Grelh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182" autoAdjust="0"/>
    <p:restoredTop sz="94660"/>
  </p:normalViewPr>
  <p:slideViewPr>
    <p:cSldViewPr snapToGrid="0">
      <p:cViewPr varScale="1">
        <p:scale>
          <a:sx n="56" d="100"/>
          <a:sy n="56" d="100"/>
        </p:scale>
        <p:origin x="738" y="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C135BF-AA7D-4DB4-82AC-FE56527F7110}" type="datetimeFigureOut">
              <a:rPr lang="pt-PT" smtClean="0"/>
              <a:t>30/10/2026</a:t>
            </a:fld>
            <a:endParaRPr lang="pt-PT"/>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PT"/>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Editar os estilos de texto do Modelo Global</a:t>
            </a:r>
          </a:p>
          <a:p>
            <a:pPr lvl="1"/>
            <a:r>
              <a:rPr lang="pt-PT"/>
              <a:t>Segundo nível</a:t>
            </a:r>
          </a:p>
          <a:p>
            <a:pPr lvl="2"/>
            <a:r>
              <a:rPr lang="pt-PT"/>
              <a:t>Terceiro nível</a:t>
            </a:r>
          </a:p>
          <a:p>
            <a:pPr lvl="3"/>
            <a:r>
              <a:rPr lang="pt-PT"/>
              <a:t>Quarto nível</a:t>
            </a:r>
          </a:p>
          <a:p>
            <a:pPr lvl="4"/>
            <a:r>
              <a:rPr lang="pt-PT"/>
              <a:t>Quinto nível</a:t>
            </a: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54ED5-2007-45A9-AD44-BCAD9C1D17D3}" type="slidenum">
              <a:rPr lang="pt-PT" smtClean="0"/>
              <a:t>‹#›</a:t>
            </a:fld>
            <a:endParaRPr lang="pt-PT"/>
          </a:p>
        </p:txBody>
      </p:sp>
    </p:spTree>
    <p:extLst>
      <p:ext uri="{BB962C8B-B14F-4D97-AF65-F5344CB8AC3E}">
        <p14:creationId xmlns:p14="http://schemas.microsoft.com/office/powerpoint/2010/main" val="607292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group (10 s). We took the Consumer Choice model, rebuilt it in Mesa, fitted it to DIGI's entry into the Portuguese market and let the incumbents learn their prices.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45 s. Model by Jager and Wang (NetLogo library), rebuilt in Python with Mesa; with the same seeds our version reproduces the decision rule step by step. Consumers sit in a friendship network. Each tick: (1) habit, they keep the product with probability equal to satisfaction; (2) otherwise, with small probability they explore another product; (3) otherwise they pick the highest utility, which mixes the social norm (share of friends using it) and the quality they know from experience and from friends. Outputs: market shares and clustering.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45 s. 1000 runs, results at tick 1000. Friends end up using the same product: clustering 0.937 (95% CI 0.935-0.939). The mean orange share is one half, as expected with equal products, but no run looks like the mean: SD 0.25, the middle 90% of runs lie between 0.11 and 0.92. Same settings, very different markets, driven by social influence and chance. One-at-a-time sensitivity, 100 runs per value: any norm creates clusters (0.54 at norm 0, about 0.94 from 0.1 up); a small quality gap decides the winner (orange 0.95 when blue is 0.45, 0.07 when blue is 0.55); exploration breaks clusters (0.67 at 0.2).</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Ze, about 50 s. Left: what we kept from the baseline, so tasks 1-2 still hold: the social network, the three-step decision (habit, exploration, utility), utility from the norm and the known quality, and limited information and memory: consumers know only what they tried or heard from friends. Right: what we added for the telecom market: real operators with empirical prices; quality from ANACOM complaints; contracts and legal early-exit penalties (Lei 16/2022); the market entry of DIGI, which bought NOWO; a dynamic population; and strategic pricing learned with reinforcement learning, a multi-armed epsilon-greedy bandit.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Ze, about 40 s. The puzzle: DIGI sells fibre plus TV at 22 euros against 42.49 at MEO and NOS, with 3-month instead of 24-month contracts, yet its share (with NOWO) rose only 0.6 points in about 18 months, from 2.6% to 3.2%. We fitted two behavioural parameters (norm weight 0.10, exploration 0.02) and brand constants to DIGI's path. The model reaches 3.2% at month 28 but grows later than the data (2.4% vs 2.8% at month 19). Error 0.22 points, 30 runs. Month 0 is November 2023; DIGI enters in month 12, November 2024. Sources: ANACOM bundled services; CNN Portugal/DECO barometer Oct 2025.</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50 s. The learning agents are the three incumbents; DIGI keeps 22 euros. From DIGI's entry, every three months, each incumbent picks one of five prices, from the list price to 20% below; 90% of the time the price with the best value so far, 10% a random one. It observes the profit of the quarter, the margin and not revenue, and updates that price's value with step 0.2, which weights recent quarters because the market keeps changing. Each price is tried once first, in random order. No firm sees the others' prices or talks to them. We compare with fixed-price scenarios using the same random numbers: 30 runs, 10 years after the entry. Method: Sutton and Barto (2018), ch. 2.</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40 s. Left: mean price relative to the list price, 30 runs. After the entry the incumbents try every price once (the dip), then settle close to the list price: mean multiplier 0.98. Right: in years 6-10 the list price is chosen in 85% (MEO) and 88% (NOS, Vodafone) of the decisions; most of the rest is the 10% random exploration. This is not learned collusion: the bandit cannot see its rivals. A cut lowers the margin at once, while the customers it wins arrive slowly, over 24-month contracts, so a 3-month reward favours keeping the margin.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40 s. Paired by seed, 95% confidence intervals, 30 runs per scenario. DIGI costs the incumbents about a tenth of their profit: without the entry they would earn 11.4% more. Learned prices cost only 2.4% (CI -3.5 to -1.3). Matching DIGI on price stops much of its growth (DIGI at 7.9% instead of 22.6% with all at 0.90) but costs 17.5% of joint profit. The 10-year values compare scenarios; they are not forecasts: our data cover 30 months.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50 s. Own profit against all at list price. Each incumbent gains by cutting alone to 0.90 (MEO +14.9%, NOS +19.3%, Vodafone +36.2%), but loses when all cut: a prisoner's dilemma, so the list price is not an equilibrium. Robustness: 9 one-at-a-time changes (quality spread, exits, initial contracts, renewal discount 17.8%, full lock-in, margin 60%), 20 runs each: a solo cut pays for NOS and Vodafone in all of them; learned prices stay at 0.97-0.98 of the list price. Conclusions, then limitations if asked: low mobility at contract end (under 1% vs 13.6% in Confraria et al.), long horizon, bandit without view of rivals.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o de Título">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CEB6A7A7-C311-4DD3-9934-76DD9DAD8BF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ítulo 2">
            <a:extLst>
              <a:ext uri="{FF2B5EF4-FFF2-40B4-BE49-F238E27FC236}">
                <a16:creationId xmlns:a16="http://schemas.microsoft.com/office/drawing/2014/main" id="{AA63D005-2368-4FCD-AD05-99A35B1F670C}"/>
              </a:ext>
            </a:extLst>
          </p:cNvPr>
          <p:cNvSpPr>
            <a:spLocks noGrp="1"/>
          </p:cNvSpPr>
          <p:nvPr>
            <p:ph type="subTitle" idx="1" hasCustomPrompt="1"/>
          </p:nvPr>
        </p:nvSpPr>
        <p:spPr>
          <a:xfrm>
            <a:off x="780761" y="3021699"/>
            <a:ext cx="3654000" cy="705600"/>
          </a:xfrm>
          <a:prstGeom prst="rect">
            <a:avLst/>
          </a:prstGeom>
        </p:spPr>
        <p:txBody>
          <a:bodyPr>
            <a:normAutofit/>
          </a:bodyPr>
          <a:lstStyle>
            <a:lvl1pPr marL="0" indent="0" algn="l">
              <a:buNone/>
              <a:defRPr lang="pt-PT" sz="2400" kern="1200" cap="all" baseline="0" dirty="0">
                <a:solidFill>
                  <a:schemeClr val="tx1"/>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PT" dirty="0"/>
              <a:t>DATA | SUBTÍTULO</a:t>
            </a:r>
          </a:p>
        </p:txBody>
      </p:sp>
      <p:sp>
        <p:nvSpPr>
          <p:cNvPr id="2" name="Título 1">
            <a:extLst>
              <a:ext uri="{FF2B5EF4-FFF2-40B4-BE49-F238E27FC236}">
                <a16:creationId xmlns:a16="http://schemas.microsoft.com/office/drawing/2014/main" id="{6DB7EF0F-F9FA-4855-A45D-A4BECF7CFB11}"/>
              </a:ext>
            </a:extLst>
          </p:cNvPr>
          <p:cNvSpPr>
            <a:spLocks noGrp="1"/>
          </p:cNvSpPr>
          <p:nvPr>
            <p:ph type="ctrTitle" hasCustomPrompt="1"/>
          </p:nvPr>
        </p:nvSpPr>
        <p:spPr>
          <a:xfrm>
            <a:off x="780761" y="2242294"/>
            <a:ext cx="8449200" cy="705600"/>
          </a:xfrm>
          <a:prstGeom prst="rect">
            <a:avLst/>
          </a:prstGeom>
        </p:spPr>
        <p:txBody>
          <a:bodyPr anchor="b">
            <a:normAutofit/>
          </a:bodyPr>
          <a:lstStyle>
            <a:lvl1pPr algn="l">
              <a:defRPr lang="pt-PT" sz="3300" b="1" kern="1200" cap="all" baseline="0" dirty="0">
                <a:solidFill>
                  <a:schemeClr val="tx1"/>
                </a:solidFill>
                <a:latin typeface="+mn-lt"/>
                <a:ea typeface="+mj-ea"/>
                <a:cs typeface="+mj-cs"/>
              </a:defRPr>
            </a:lvl1pPr>
          </a:lstStyle>
          <a:p>
            <a:r>
              <a:rPr lang="pt-PT" dirty="0"/>
              <a:t>TÍTULO DA APRESENTAÇÃO</a:t>
            </a:r>
          </a:p>
        </p:txBody>
      </p:sp>
      <p:sp>
        <p:nvSpPr>
          <p:cNvPr id="8" name="Rectangle 7">
            <a:extLst>
              <a:ext uri="{FF2B5EF4-FFF2-40B4-BE49-F238E27FC236}">
                <a16:creationId xmlns:a16="http://schemas.microsoft.com/office/drawing/2014/main" id="{253C72BF-B1AF-B5EA-BB39-D5ACD8417396}"/>
              </a:ext>
            </a:extLst>
          </p:cNvPr>
          <p:cNvSpPr/>
          <p:nvPr userDrawn="1"/>
        </p:nvSpPr>
        <p:spPr>
          <a:xfrm>
            <a:off x="3926113" y="703943"/>
            <a:ext cx="4441372" cy="11492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dirty="0"/>
          </a:p>
        </p:txBody>
      </p:sp>
      <p:pic>
        <p:nvPicPr>
          <p:cNvPr id="10" name="Picture 9" descr="A close up of a logo&#10;&#10;AI-generated content may be incorrect.">
            <a:extLst>
              <a:ext uri="{FF2B5EF4-FFF2-40B4-BE49-F238E27FC236}">
                <a16:creationId xmlns:a16="http://schemas.microsoft.com/office/drawing/2014/main" id="{5C2EFCB0-82E1-C561-C2E8-BD78929CC69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72084" y="902070"/>
            <a:ext cx="3522333" cy="704467"/>
          </a:xfrm>
          <a:prstGeom prst="rect">
            <a:avLst/>
          </a:prstGeom>
        </p:spPr>
      </p:pic>
    </p:spTree>
    <p:extLst>
      <p:ext uri="{BB962C8B-B14F-4D97-AF65-F5344CB8AC3E}">
        <p14:creationId xmlns:p14="http://schemas.microsoft.com/office/powerpoint/2010/main" val="34841381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e Objeto">
    <p:spTree>
      <p:nvGrpSpPr>
        <p:cNvPr id="1" name=""/>
        <p:cNvGrpSpPr/>
        <p:nvPr/>
      </p:nvGrpSpPr>
      <p:grpSpPr>
        <a:xfrm>
          <a:off x="0" y="0"/>
          <a:ext cx="0" cy="0"/>
          <a:chOff x="0" y="0"/>
          <a:chExt cx="0" cy="0"/>
        </a:xfrm>
      </p:grpSpPr>
      <p:pic>
        <p:nvPicPr>
          <p:cNvPr id="8" name="Picture 6">
            <a:extLst>
              <a:ext uri="{FF2B5EF4-FFF2-40B4-BE49-F238E27FC236}">
                <a16:creationId xmlns:a16="http://schemas.microsoft.com/office/drawing/2014/main" id="{495ACACE-1B69-4C54-A282-34BA4E7F6A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Marcador de Posição de Conteúdo 2">
            <a:extLst>
              <a:ext uri="{FF2B5EF4-FFF2-40B4-BE49-F238E27FC236}">
                <a16:creationId xmlns:a16="http://schemas.microsoft.com/office/drawing/2014/main" id="{DCE83292-C17B-4831-8C49-320071CFDA38}"/>
              </a:ext>
            </a:extLst>
          </p:cNvPr>
          <p:cNvSpPr>
            <a:spLocks noGrp="1"/>
          </p:cNvSpPr>
          <p:nvPr>
            <p:ph idx="1" hasCustomPrompt="1"/>
          </p:nvPr>
        </p:nvSpPr>
        <p:spPr>
          <a:xfrm>
            <a:off x="579000" y="2622738"/>
            <a:ext cx="11034000" cy="3265164"/>
          </a:xfrm>
          <a:prstGeom prst="rect">
            <a:avLst/>
          </a:prstGeom>
        </p:spPr>
        <p:txBody>
          <a:bodyPr/>
          <a:lstStyle>
            <a:lvl1pPr marL="0" indent="0">
              <a:buFont typeface="Arial" panose="020B0604020202020204" pitchFamily="34" charset="0"/>
              <a:buNone/>
              <a:defRPr sz="2000"/>
            </a:lvl1pPr>
            <a:lvl2pPr>
              <a:defRPr sz="1900"/>
            </a:lvl2pPr>
            <a:lvl3pPr>
              <a:defRPr sz="1800"/>
            </a:lvl3pPr>
            <a:lvl4pPr>
              <a:defRPr sz="1700"/>
            </a:lvl4pPr>
            <a:lvl5pPr>
              <a:defRPr sz="1600"/>
            </a:lvl5pPr>
          </a:lstStyle>
          <a:p>
            <a:pPr lvl="0"/>
            <a:r>
              <a:rPr lang="pt-PT" dirty="0"/>
              <a:t>Clique para adicionar texto</a:t>
            </a:r>
          </a:p>
          <a:p>
            <a:pPr lvl="1"/>
            <a:r>
              <a:rPr lang="pt-PT" dirty="0"/>
              <a:t>Segundo nível</a:t>
            </a:r>
          </a:p>
          <a:p>
            <a:pPr lvl="2"/>
            <a:r>
              <a:rPr lang="pt-PT" dirty="0"/>
              <a:t>Terceiro nível</a:t>
            </a:r>
          </a:p>
          <a:p>
            <a:pPr lvl="3"/>
            <a:r>
              <a:rPr lang="pt-PT" dirty="0"/>
              <a:t>Quarto nível</a:t>
            </a:r>
          </a:p>
          <a:p>
            <a:pPr lvl="4"/>
            <a:r>
              <a:rPr lang="pt-PT" dirty="0"/>
              <a:t>Quinto nível</a:t>
            </a:r>
          </a:p>
        </p:txBody>
      </p:sp>
      <p:sp>
        <p:nvSpPr>
          <p:cNvPr id="9" name="Marcador de Posição do Texto 29">
            <a:extLst>
              <a:ext uri="{FF2B5EF4-FFF2-40B4-BE49-F238E27FC236}">
                <a16:creationId xmlns:a16="http://schemas.microsoft.com/office/drawing/2014/main" id="{868327F2-B109-451B-9D56-8EAA7AF3C669}"/>
              </a:ext>
            </a:extLst>
          </p:cNvPr>
          <p:cNvSpPr>
            <a:spLocks noGrp="1"/>
          </p:cNvSpPr>
          <p:nvPr>
            <p:ph type="body" sz="quarter" idx="15" hasCustomPrompt="1"/>
          </p:nvPr>
        </p:nvSpPr>
        <p:spPr>
          <a:xfrm>
            <a:off x="579000" y="6004800"/>
            <a:ext cx="3916680" cy="365125"/>
          </a:xfrm>
          <a:prstGeom prst="rect">
            <a:avLst/>
          </a:prstGeom>
        </p:spPr>
        <p:txBody>
          <a:bodyPr anchor="ctr" anchorCtr="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solidFill>
                  <a:schemeClr val="tx1">
                    <a:lumMod val="50000"/>
                    <a:lumOff val="50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pt-PT" dirty="0"/>
              <a:t>nº | Nome do autor</a:t>
            </a:r>
          </a:p>
        </p:txBody>
      </p:sp>
      <p:sp>
        <p:nvSpPr>
          <p:cNvPr id="5" name="Marcador de Posição do Texto 4">
            <a:extLst>
              <a:ext uri="{FF2B5EF4-FFF2-40B4-BE49-F238E27FC236}">
                <a16:creationId xmlns:a16="http://schemas.microsoft.com/office/drawing/2014/main" id="{9FAE21DA-0E80-4931-84E9-986C64315103}"/>
              </a:ext>
            </a:extLst>
          </p:cNvPr>
          <p:cNvSpPr>
            <a:spLocks noGrp="1"/>
          </p:cNvSpPr>
          <p:nvPr>
            <p:ph type="body" sz="quarter" idx="16" hasCustomPrompt="1"/>
          </p:nvPr>
        </p:nvSpPr>
        <p:spPr>
          <a:xfrm>
            <a:off x="579000" y="1633071"/>
            <a:ext cx="11034000" cy="421893"/>
          </a:xfrm>
          <a:prstGeom prst="rect">
            <a:avLst/>
          </a:prstGeom>
        </p:spPr>
        <p:txBody>
          <a:bodyPr>
            <a:noAutofit/>
          </a:bodyPr>
          <a:lstStyle>
            <a:lvl1pPr marL="0" indent="0">
              <a:buNone/>
              <a:defRPr lang="pt-PT" sz="2100" b="0" kern="1200" dirty="0" smtClean="0">
                <a:solidFill>
                  <a:schemeClr val="tx1"/>
                </a:solidFill>
                <a:latin typeface="+mn-lt"/>
                <a:ea typeface="+mj-ea"/>
                <a:cs typeface="+mj-cs"/>
              </a:defRPr>
            </a:lvl1pPr>
            <a:lvl2pPr>
              <a:defRPr lang="pt-PT" sz="2100" b="0" kern="1200" dirty="0" smtClean="0">
                <a:solidFill>
                  <a:schemeClr val="tx1"/>
                </a:solidFill>
                <a:latin typeface="+mn-lt"/>
                <a:ea typeface="+mj-ea"/>
                <a:cs typeface="+mj-cs"/>
              </a:defRPr>
            </a:lvl2pPr>
            <a:lvl3pPr>
              <a:defRPr lang="pt-PT" sz="2100" b="0" kern="1200" dirty="0" smtClean="0">
                <a:solidFill>
                  <a:schemeClr val="tx1"/>
                </a:solidFill>
                <a:latin typeface="+mn-lt"/>
                <a:ea typeface="+mj-ea"/>
                <a:cs typeface="+mj-cs"/>
              </a:defRPr>
            </a:lvl3pPr>
            <a:lvl4pPr>
              <a:defRPr lang="pt-PT" sz="2100" b="0" kern="1200" dirty="0" smtClean="0">
                <a:solidFill>
                  <a:schemeClr val="tx1"/>
                </a:solidFill>
                <a:latin typeface="+mn-lt"/>
                <a:ea typeface="+mj-ea"/>
                <a:cs typeface="+mj-cs"/>
              </a:defRPr>
            </a:lvl4pPr>
            <a:lvl5pPr>
              <a:defRPr lang="pt-PT" sz="2100" b="0" kern="1200" dirty="0">
                <a:solidFill>
                  <a:schemeClr val="tx1"/>
                </a:solidFill>
                <a:latin typeface="+mn-lt"/>
                <a:ea typeface="+mj-ea"/>
                <a:cs typeface="+mj-cs"/>
              </a:defRPr>
            </a:lvl5pPr>
          </a:lstStyle>
          <a:p>
            <a:pPr lvl="0"/>
            <a:r>
              <a:rPr lang="pt-PT" dirty="0"/>
              <a:t>SEGUNDO TÍTULO</a:t>
            </a:r>
          </a:p>
        </p:txBody>
      </p:sp>
      <p:sp>
        <p:nvSpPr>
          <p:cNvPr id="6" name="Título 5">
            <a:extLst>
              <a:ext uri="{FF2B5EF4-FFF2-40B4-BE49-F238E27FC236}">
                <a16:creationId xmlns:a16="http://schemas.microsoft.com/office/drawing/2014/main" id="{A9232E15-8EAE-42EE-B39F-6A8E25833247}"/>
              </a:ext>
            </a:extLst>
          </p:cNvPr>
          <p:cNvSpPr>
            <a:spLocks noGrp="1"/>
          </p:cNvSpPr>
          <p:nvPr>
            <p:ph type="title" hasCustomPrompt="1"/>
          </p:nvPr>
        </p:nvSpPr>
        <p:spPr>
          <a:xfrm>
            <a:off x="579000" y="1033461"/>
            <a:ext cx="11034000" cy="545782"/>
          </a:xfrm>
          <a:prstGeom prst="rect">
            <a:avLst/>
          </a:prstGeom>
        </p:spPr>
        <p:txBody>
          <a:bodyPr>
            <a:normAutofit/>
          </a:bodyPr>
          <a:lstStyle>
            <a:lvl1pPr>
              <a:defRPr lang="pt-PT" sz="3200" b="1" kern="1200" cap="all" baseline="0" dirty="0" smtClean="0">
                <a:solidFill>
                  <a:schemeClr val="tx1"/>
                </a:solidFill>
                <a:latin typeface="+mn-lt"/>
                <a:ea typeface="+mj-ea"/>
                <a:cs typeface="+mj-cs"/>
              </a:defRPr>
            </a:lvl1pPr>
          </a:lstStyle>
          <a:p>
            <a:r>
              <a:rPr lang="pt-PT" dirty="0"/>
              <a:t>TÍTULO</a:t>
            </a:r>
          </a:p>
        </p:txBody>
      </p:sp>
      <p:sp>
        <p:nvSpPr>
          <p:cNvPr id="10" name="Marcador de Posição do Texto 4">
            <a:extLst>
              <a:ext uri="{FF2B5EF4-FFF2-40B4-BE49-F238E27FC236}">
                <a16:creationId xmlns:a16="http://schemas.microsoft.com/office/drawing/2014/main" id="{29EF8CE1-1224-40BF-9D30-98BD9BA3F3A7}"/>
              </a:ext>
            </a:extLst>
          </p:cNvPr>
          <p:cNvSpPr>
            <a:spLocks noGrp="1"/>
          </p:cNvSpPr>
          <p:nvPr>
            <p:ph type="body" sz="quarter" idx="17" hasCustomPrompt="1"/>
          </p:nvPr>
        </p:nvSpPr>
        <p:spPr>
          <a:xfrm>
            <a:off x="579000" y="2178612"/>
            <a:ext cx="11034000" cy="421893"/>
          </a:xfrm>
          <a:prstGeom prst="rect">
            <a:avLst/>
          </a:prstGeom>
        </p:spPr>
        <p:txBody>
          <a:bodyPr>
            <a:noAutofit/>
          </a:bodyPr>
          <a:lstStyle>
            <a:lvl1pPr marL="0" indent="0">
              <a:buNone/>
              <a:defRPr lang="pt-PT" sz="2100" b="0" kern="1200" dirty="0" smtClean="0">
                <a:solidFill>
                  <a:srgbClr val="F4313F"/>
                </a:solidFill>
                <a:latin typeface="+mn-lt"/>
                <a:ea typeface="+mj-ea"/>
                <a:cs typeface="+mj-cs"/>
              </a:defRPr>
            </a:lvl1pPr>
            <a:lvl2pPr>
              <a:defRPr lang="pt-PT" sz="2100" b="0" kern="1200" dirty="0" smtClean="0">
                <a:solidFill>
                  <a:schemeClr val="tx1"/>
                </a:solidFill>
                <a:latin typeface="+mn-lt"/>
                <a:ea typeface="+mj-ea"/>
                <a:cs typeface="+mj-cs"/>
              </a:defRPr>
            </a:lvl2pPr>
            <a:lvl3pPr>
              <a:defRPr lang="pt-PT" sz="2100" b="0" kern="1200" dirty="0" smtClean="0">
                <a:solidFill>
                  <a:schemeClr val="tx1"/>
                </a:solidFill>
                <a:latin typeface="+mn-lt"/>
                <a:ea typeface="+mj-ea"/>
                <a:cs typeface="+mj-cs"/>
              </a:defRPr>
            </a:lvl3pPr>
            <a:lvl4pPr>
              <a:defRPr lang="pt-PT" sz="2100" b="0" kern="1200" dirty="0" smtClean="0">
                <a:solidFill>
                  <a:schemeClr val="tx1"/>
                </a:solidFill>
                <a:latin typeface="+mn-lt"/>
                <a:ea typeface="+mj-ea"/>
                <a:cs typeface="+mj-cs"/>
              </a:defRPr>
            </a:lvl4pPr>
            <a:lvl5pPr>
              <a:defRPr lang="pt-PT" sz="2100" b="0" kern="1200" dirty="0">
                <a:solidFill>
                  <a:schemeClr val="tx1"/>
                </a:solidFill>
                <a:latin typeface="+mn-lt"/>
                <a:ea typeface="+mj-ea"/>
                <a:cs typeface="+mj-cs"/>
              </a:defRPr>
            </a:lvl5pPr>
          </a:lstStyle>
          <a:p>
            <a:pPr lvl="0"/>
            <a:r>
              <a:rPr lang="pt-PT" dirty="0"/>
              <a:t>| SUBTÍTULO</a:t>
            </a:r>
          </a:p>
        </p:txBody>
      </p:sp>
    </p:spTree>
    <p:extLst>
      <p:ext uri="{BB962C8B-B14F-4D97-AF65-F5344CB8AC3E}">
        <p14:creationId xmlns:p14="http://schemas.microsoft.com/office/powerpoint/2010/main" val="3478491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e Objeto_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E2CF6A-4305-4407-B152-55B819B7FA0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1FDFDB19-6F72-45F5-96B1-7E7E1F5FA078}"/>
              </a:ext>
            </a:extLst>
          </p:cNvPr>
          <p:cNvSpPr>
            <a:spLocks noGrp="1"/>
          </p:cNvSpPr>
          <p:nvPr>
            <p:ph type="title" hasCustomPrompt="1"/>
          </p:nvPr>
        </p:nvSpPr>
        <p:spPr>
          <a:xfrm>
            <a:off x="579000" y="1033461"/>
            <a:ext cx="11034000" cy="923348"/>
          </a:xfrm>
          <a:prstGeom prst="rect">
            <a:avLst/>
          </a:prstGeom>
        </p:spPr>
        <p:txBody>
          <a:bodyPr anchor="ctr" anchorCtr="0">
            <a:normAutofit/>
          </a:bodyPr>
          <a:lstStyle>
            <a:lvl1pPr>
              <a:defRPr lang="pt-PT" sz="3200" b="1" kern="1200" cap="all" baseline="0" dirty="0" smtClean="0">
                <a:solidFill>
                  <a:schemeClr val="tx1"/>
                </a:solidFill>
                <a:latin typeface="+mn-lt"/>
                <a:ea typeface="+mj-ea"/>
                <a:cs typeface="+mj-cs"/>
              </a:defRPr>
            </a:lvl1pPr>
          </a:lstStyle>
          <a:p>
            <a:r>
              <a:rPr lang="pt-PT" dirty="0"/>
              <a:t>TÍTULO</a:t>
            </a:r>
          </a:p>
        </p:txBody>
      </p:sp>
      <p:sp>
        <p:nvSpPr>
          <p:cNvPr id="3" name="Marcador de Posição de Conteúdo 2">
            <a:extLst>
              <a:ext uri="{FF2B5EF4-FFF2-40B4-BE49-F238E27FC236}">
                <a16:creationId xmlns:a16="http://schemas.microsoft.com/office/drawing/2014/main" id="{DCE83292-C17B-4831-8C49-320071CFDA38}"/>
              </a:ext>
            </a:extLst>
          </p:cNvPr>
          <p:cNvSpPr>
            <a:spLocks noGrp="1"/>
          </p:cNvSpPr>
          <p:nvPr>
            <p:ph idx="1" hasCustomPrompt="1"/>
          </p:nvPr>
        </p:nvSpPr>
        <p:spPr>
          <a:xfrm>
            <a:off x="579000" y="2081481"/>
            <a:ext cx="11034000" cy="3816400"/>
          </a:xfrm>
          <a:prstGeom prst="rect">
            <a:avLst/>
          </a:prstGeom>
        </p:spPr>
        <p:txBody>
          <a:bodyPr/>
          <a:lstStyle>
            <a:lvl1pPr marL="0" indent="0">
              <a:buFont typeface="Arial" panose="020B0604020202020204" pitchFamily="34" charset="0"/>
              <a:buNone/>
              <a:defRPr sz="2000"/>
            </a:lvl1pPr>
            <a:lvl2pPr>
              <a:defRPr sz="1900"/>
            </a:lvl2pPr>
            <a:lvl3pPr>
              <a:defRPr sz="1800"/>
            </a:lvl3pPr>
            <a:lvl4pPr>
              <a:defRPr sz="1700"/>
            </a:lvl4pPr>
            <a:lvl5pPr>
              <a:defRPr sz="1600"/>
            </a:lvl5pPr>
          </a:lstStyle>
          <a:p>
            <a:pPr lvl="0"/>
            <a:r>
              <a:rPr lang="pt-PT" dirty="0"/>
              <a:t>Clique para adicionar texto</a:t>
            </a:r>
          </a:p>
          <a:p>
            <a:pPr lvl="1"/>
            <a:r>
              <a:rPr lang="pt-PT" dirty="0"/>
              <a:t>Segundo nível</a:t>
            </a:r>
          </a:p>
          <a:p>
            <a:pPr lvl="2"/>
            <a:r>
              <a:rPr lang="pt-PT" dirty="0"/>
              <a:t>Terceiro nível</a:t>
            </a:r>
          </a:p>
          <a:p>
            <a:pPr lvl="3"/>
            <a:r>
              <a:rPr lang="pt-PT" dirty="0"/>
              <a:t>Quarto nível</a:t>
            </a:r>
          </a:p>
          <a:p>
            <a:pPr lvl="4"/>
            <a:r>
              <a:rPr lang="pt-PT" dirty="0"/>
              <a:t>Quinto nível</a:t>
            </a:r>
          </a:p>
        </p:txBody>
      </p:sp>
      <p:sp>
        <p:nvSpPr>
          <p:cNvPr id="9" name="Marcador de Posição do Texto 29">
            <a:extLst>
              <a:ext uri="{FF2B5EF4-FFF2-40B4-BE49-F238E27FC236}">
                <a16:creationId xmlns:a16="http://schemas.microsoft.com/office/drawing/2014/main" id="{868327F2-B109-451B-9D56-8EAA7AF3C669}"/>
              </a:ext>
            </a:extLst>
          </p:cNvPr>
          <p:cNvSpPr>
            <a:spLocks noGrp="1"/>
          </p:cNvSpPr>
          <p:nvPr>
            <p:ph type="body" sz="quarter" idx="15" hasCustomPrompt="1"/>
          </p:nvPr>
        </p:nvSpPr>
        <p:spPr>
          <a:xfrm>
            <a:off x="579000" y="6004800"/>
            <a:ext cx="3916680" cy="365125"/>
          </a:xfrm>
          <a:prstGeom prst="rect">
            <a:avLst/>
          </a:prstGeom>
        </p:spPr>
        <p:txBody>
          <a:bodyPr anchor="ctr" anchorCtr="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solidFill>
                  <a:schemeClr val="tx1">
                    <a:lumMod val="50000"/>
                    <a:lumOff val="50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pt-PT" dirty="0"/>
              <a:t>nº | Nome do autor</a:t>
            </a:r>
          </a:p>
        </p:txBody>
      </p:sp>
    </p:spTree>
    <p:extLst>
      <p:ext uri="{BB962C8B-B14F-4D97-AF65-F5344CB8AC3E}">
        <p14:creationId xmlns:p14="http://schemas.microsoft.com/office/powerpoint/2010/main" val="3917570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60029C81-13F7-42C8-88B9-F0A323C562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D0F11F24-BDD1-4625-B0AC-223167D681F1}"/>
              </a:ext>
            </a:extLst>
          </p:cNvPr>
          <p:cNvSpPr>
            <a:spLocks noGrp="1"/>
          </p:cNvSpPr>
          <p:nvPr>
            <p:ph type="title" hasCustomPrompt="1"/>
          </p:nvPr>
        </p:nvSpPr>
        <p:spPr>
          <a:xfrm>
            <a:off x="579000" y="1709739"/>
            <a:ext cx="11034000" cy="1719262"/>
          </a:xfrm>
          <a:prstGeom prst="rect">
            <a:avLst/>
          </a:prstGeom>
        </p:spPr>
        <p:txBody>
          <a:bodyPr anchor="b">
            <a:normAutofit/>
          </a:bodyPr>
          <a:lstStyle>
            <a:lvl1pPr>
              <a:defRPr lang="pt-PT" sz="3300" b="1" kern="1200" cap="all" baseline="0" dirty="0">
                <a:solidFill>
                  <a:schemeClr val="tx1"/>
                </a:solidFill>
                <a:latin typeface="+mn-lt"/>
                <a:ea typeface="+mj-ea"/>
                <a:cs typeface="+mj-cs"/>
              </a:defRPr>
            </a:lvl1pPr>
          </a:lstStyle>
          <a:p>
            <a:r>
              <a:rPr lang="pt-PT" dirty="0"/>
              <a:t>TÍTULO</a:t>
            </a:r>
          </a:p>
        </p:txBody>
      </p:sp>
      <p:sp>
        <p:nvSpPr>
          <p:cNvPr id="3" name="Marcador de Posição do Texto 2">
            <a:extLst>
              <a:ext uri="{FF2B5EF4-FFF2-40B4-BE49-F238E27FC236}">
                <a16:creationId xmlns:a16="http://schemas.microsoft.com/office/drawing/2014/main" id="{EA5DB239-CE83-4CDD-A06C-88D7445B166D}"/>
              </a:ext>
            </a:extLst>
          </p:cNvPr>
          <p:cNvSpPr>
            <a:spLocks noGrp="1"/>
          </p:cNvSpPr>
          <p:nvPr>
            <p:ph type="body" idx="1" hasCustomPrompt="1"/>
          </p:nvPr>
        </p:nvSpPr>
        <p:spPr>
          <a:xfrm>
            <a:off x="579000" y="3456432"/>
            <a:ext cx="11034000" cy="1500187"/>
          </a:xfrm>
          <a:prstGeom prst="rect">
            <a:avLst/>
          </a:prstGeom>
        </p:spPr>
        <p:txBody>
          <a:bodyPr>
            <a:normAutofit/>
          </a:bodyPr>
          <a:lstStyle>
            <a:lvl1pPr marL="0" indent="0">
              <a:buNone/>
              <a:defRPr lang="pt-PT" sz="2400" kern="1200" cap="all" baseline="0" dirty="0" smtClean="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PT" dirty="0"/>
              <a:t>SUBTÍTULO</a:t>
            </a:r>
          </a:p>
        </p:txBody>
      </p:sp>
    </p:spTree>
    <p:extLst>
      <p:ext uri="{BB962C8B-B14F-4D97-AF65-F5344CB8AC3E}">
        <p14:creationId xmlns:p14="http://schemas.microsoft.com/office/powerpoint/2010/main" val="2723765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údo Duplo">
    <p:spTree>
      <p:nvGrpSpPr>
        <p:cNvPr id="1" name=""/>
        <p:cNvGrpSpPr/>
        <p:nvPr/>
      </p:nvGrpSpPr>
      <p:grpSpPr>
        <a:xfrm>
          <a:off x="0" y="0"/>
          <a:ext cx="0" cy="0"/>
          <a:chOff x="0" y="0"/>
          <a:chExt cx="0" cy="0"/>
        </a:xfrm>
      </p:grpSpPr>
      <p:pic>
        <p:nvPicPr>
          <p:cNvPr id="8" name="Picture 6">
            <a:extLst>
              <a:ext uri="{FF2B5EF4-FFF2-40B4-BE49-F238E27FC236}">
                <a16:creationId xmlns:a16="http://schemas.microsoft.com/office/drawing/2014/main" id="{4DA05819-8051-4861-9A29-56DF454D56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B71B68F6-D9F9-42C4-8502-193BDA8FAC77}"/>
              </a:ext>
            </a:extLst>
          </p:cNvPr>
          <p:cNvSpPr>
            <a:spLocks noGrp="1"/>
          </p:cNvSpPr>
          <p:nvPr>
            <p:ph type="title" hasCustomPrompt="1"/>
          </p:nvPr>
        </p:nvSpPr>
        <p:spPr>
          <a:xfrm>
            <a:off x="579000" y="1033461"/>
            <a:ext cx="11034000" cy="925200"/>
          </a:xfrm>
          <a:prstGeom prst="rect">
            <a:avLst/>
          </a:prstGeom>
        </p:spPr>
        <p:txBody>
          <a:bodyPr anchor="ctr" anchorCtr="0"/>
          <a:lstStyle>
            <a:lvl1pPr>
              <a:defRPr lang="pt-PT" sz="3200" b="1" kern="1200" cap="all" baseline="0" smtClean="0">
                <a:solidFill>
                  <a:schemeClr val="tx1"/>
                </a:solidFill>
                <a:latin typeface="+mn-lt"/>
                <a:ea typeface="+mj-ea"/>
                <a:cs typeface="+mj-cs"/>
              </a:defRPr>
            </a:lvl1pPr>
          </a:lstStyle>
          <a:p>
            <a:r>
              <a:rPr lang="pt-PT" dirty="0"/>
              <a:t>TÍTULO</a:t>
            </a:r>
          </a:p>
        </p:txBody>
      </p:sp>
      <p:sp>
        <p:nvSpPr>
          <p:cNvPr id="3" name="Marcador de Posição de Conteúdo 2">
            <a:extLst>
              <a:ext uri="{FF2B5EF4-FFF2-40B4-BE49-F238E27FC236}">
                <a16:creationId xmlns:a16="http://schemas.microsoft.com/office/drawing/2014/main" id="{393AB2AB-4255-4EB6-8F02-77E3A550FD93}"/>
              </a:ext>
            </a:extLst>
          </p:cNvPr>
          <p:cNvSpPr>
            <a:spLocks noGrp="1"/>
          </p:cNvSpPr>
          <p:nvPr>
            <p:ph sz="half" idx="1" hasCustomPrompt="1"/>
          </p:nvPr>
        </p:nvSpPr>
        <p:spPr>
          <a:xfrm>
            <a:off x="579001" y="2081062"/>
            <a:ext cx="5440800" cy="3816819"/>
          </a:xfrm>
          <a:prstGeom prst="rect">
            <a:avLst/>
          </a:prstGeom>
        </p:spPr>
        <p:txBody>
          <a:bodyPr/>
          <a:lstStyle>
            <a:lvl1pPr marL="0" indent="0">
              <a:buNone/>
              <a:defRPr sz="2000"/>
            </a:lvl1pPr>
            <a:lvl2pPr>
              <a:defRPr sz="1900"/>
            </a:lvl2pPr>
            <a:lvl3pPr>
              <a:defRPr sz="1800"/>
            </a:lvl3pPr>
            <a:lvl4pPr>
              <a:defRPr sz="1700"/>
            </a:lvl4pPr>
            <a:lvl5pPr>
              <a:defRPr sz="1600"/>
            </a:lvl5pPr>
          </a:lstStyle>
          <a:p>
            <a:pPr lvl="0"/>
            <a:r>
              <a:rPr lang="pt-PT" dirty="0"/>
              <a:t>Clique para adicionar texto</a:t>
            </a:r>
          </a:p>
          <a:p>
            <a:pPr lvl="1"/>
            <a:r>
              <a:rPr lang="pt-PT" dirty="0"/>
              <a:t>Segundo nível</a:t>
            </a:r>
          </a:p>
          <a:p>
            <a:pPr lvl="2"/>
            <a:r>
              <a:rPr lang="pt-PT" dirty="0"/>
              <a:t>Terceiro nível</a:t>
            </a:r>
          </a:p>
          <a:p>
            <a:pPr lvl="3"/>
            <a:r>
              <a:rPr lang="pt-PT" dirty="0"/>
              <a:t>Quarto nível</a:t>
            </a:r>
          </a:p>
          <a:p>
            <a:pPr lvl="4"/>
            <a:r>
              <a:rPr lang="pt-PT" dirty="0"/>
              <a:t>Quinto nível</a:t>
            </a:r>
          </a:p>
        </p:txBody>
      </p:sp>
      <p:sp>
        <p:nvSpPr>
          <p:cNvPr id="4" name="Marcador de Posição de Conteúdo 3">
            <a:extLst>
              <a:ext uri="{FF2B5EF4-FFF2-40B4-BE49-F238E27FC236}">
                <a16:creationId xmlns:a16="http://schemas.microsoft.com/office/drawing/2014/main" id="{5B72169F-4D10-4882-B189-31F93F20C0C2}"/>
              </a:ext>
            </a:extLst>
          </p:cNvPr>
          <p:cNvSpPr>
            <a:spLocks noGrp="1"/>
          </p:cNvSpPr>
          <p:nvPr>
            <p:ph sz="half" idx="2" hasCustomPrompt="1"/>
          </p:nvPr>
        </p:nvSpPr>
        <p:spPr>
          <a:xfrm>
            <a:off x="6177740" y="2081062"/>
            <a:ext cx="5435260" cy="3816819"/>
          </a:xfrm>
          <a:prstGeom prst="rect">
            <a:avLst/>
          </a:prstGeom>
        </p:spPr>
        <p:txBody>
          <a:bodyPr/>
          <a:lstStyle>
            <a:lvl1pPr marL="0" indent="0">
              <a:buNone/>
              <a:defRPr sz="2000"/>
            </a:lvl1pPr>
            <a:lvl2pPr>
              <a:defRPr lang="pt-PT" sz="1900" kern="1200" dirty="0">
                <a:solidFill>
                  <a:schemeClr val="tx1"/>
                </a:solidFill>
                <a:latin typeface="+mn-lt"/>
                <a:ea typeface="+mn-ea"/>
                <a:cs typeface="+mn-cs"/>
              </a:defRPr>
            </a:lvl2pPr>
            <a:lvl3pPr>
              <a:defRPr lang="pt-PT" sz="1800" kern="1200" dirty="0">
                <a:solidFill>
                  <a:schemeClr val="tx1"/>
                </a:solidFill>
                <a:latin typeface="+mn-lt"/>
                <a:ea typeface="+mn-ea"/>
                <a:cs typeface="+mn-cs"/>
              </a:defRPr>
            </a:lvl3pPr>
            <a:lvl4pPr>
              <a:defRPr lang="pt-PT" sz="1700" kern="1200" dirty="0">
                <a:solidFill>
                  <a:schemeClr val="tx1"/>
                </a:solidFill>
                <a:latin typeface="+mn-lt"/>
                <a:ea typeface="+mn-ea"/>
                <a:cs typeface="+mn-cs"/>
              </a:defRPr>
            </a:lvl4pPr>
            <a:lvl5pPr>
              <a:defRPr lang="pt-PT" sz="1600" kern="1200" dirty="0">
                <a:solidFill>
                  <a:schemeClr val="tx1"/>
                </a:solidFill>
                <a:latin typeface="+mn-lt"/>
                <a:ea typeface="+mn-ea"/>
                <a:cs typeface="+mn-cs"/>
              </a:defRPr>
            </a:lvl5pPr>
          </a:lstStyle>
          <a:p>
            <a:pPr lvl="0"/>
            <a:r>
              <a:rPr lang="pt-PT" dirty="0"/>
              <a:t>Clique para adicionar texto</a:t>
            </a:r>
          </a:p>
          <a:p>
            <a:pPr lvl="1"/>
            <a:r>
              <a:rPr lang="pt-PT" dirty="0"/>
              <a:t>Segundo nível</a:t>
            </a:r>
          </a:p>
          <a:p>
            <a:pPr lvl="2"/>
            <a:r>
              <a:rPr lang="pt-PT" dirty="0"/>
              <a:t>Terceiro nível</a:t>
            </a:r>
          </a:p>
          <a:p>
            <a:pPr lvl="3"/>
            <a:r>
              <a:rPr lang="pt-PT" dirty="0"/>
              <a:t>Quarto nível</a:t>
            </a:r>
          </a:p>
          <a:p>
            <a:pPr lvl="4"/>
            <a:r>
              <a:rPr lang="pt-PT" dirty="0"/>
              <a:t>Quinto nível</a:t>
            </a:r>
          </a:p>
        </p:txBody>
      </p:sp>
      <p:sp>
        <p:nvSpPr>
          <p:cNvPr id="12" name="Marcador de Posição do Texto 29">
            <a:extLst>
              <a:ext uri="{FF2B5EF4-FFF2-40B4-BE49-F238E27FC236}">
                <a16:creationId xmlns:a16="http://schemas.microsoft.com/office/drawing/2014/main" id="{3042B790-75E9-4863-886B-C0D3C1EB060D}"/>
              </a:ext>
            </a:extLst>
          </p:cNvPr>
          <p:cNvSpPr>
            <a:spLocks noGrp="1"/>
          </p:cNvSpPr>
          <p:nvPr>
            <p:ph type="body" sz="quarter" idx="15" hasCustomPrompt="1"/>
          </p:nvPr>
        </p:nvSpPr>
        <p:spPr>
          <a:xfrm>
            <a:off x="579000" y="6004800"/>
            <a:ext cx="3916680" cy="365125"/>
          </a:xfrm>
          <a:prstGeom prst="rect">
            <a:avLst/>
          </a:prstGeom>
        </p:spPr>
        <p:txBody>
          <a:bodyPr anchor="ctr" anchorCtr="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solidFill>
                  <a:schemeClr val="tx1">
                    <a:lumMod val="50000"/>
                    <a:lumOff val="50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pt-PT" dirty="0"/>
              <a:t>nº | Nome do autor</a:t>
            </a:r>
          </a:p>
        </p:txBody>
      </p:sp>
    </p:spTree>
    <p:extLst>
      <p:ext uri="{BB962C8B-B14F-4D97-AF65-F5344CB8AC3E}">
        <p14:creationId xmlns:p14="http://schemas.microsoft.com/office/powerpoint/2010/main" val="1451876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ação">
    <p:spTree>
      <p:nvGrpSpPr>
        <p:cNvPr id="1" name=""/>
        <p:cNvGrpSpPr/>
        <p:nvPr/>
      </p:nvGrpSpPr>
      <p:grpSpPr>
        <a:xfrm>
          <a:off x="0" y="0"/>
          <a:ext cx="0" cy="0"/>
          <a:chOff x="0" y="0"/>
          <a:chExt cx="0" cy="0"/>
        </a:xfrm>
      </p:grpSpPr>
      <p:pic>
        <p:nvPicPr>
          <p:cNvPr id="10" name="Picture 6">
            <a:extLst>
              <a:ext uri="{FF2B5EF4-FFF2-40B4-BE49-F238E27FC236}">
                <a16:creationId xmlns:a16="http://schemas.microsoft.com/office/drawing/2014/main" id="{EED0D2ED-20A9-4AAB-A2A0-D8ACE7EE503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F6AC53A2-F62C-4CF4-B784-9F8FF25AF105}"/>
              </a:ext>
            </a:extLst>
          </p:cNvPr>
          <p:cNvSpPr>
            <a:spLocks noGrp="1"/>
          </p:cNvSpPr>
          <p:nvPr>
            <p:ph type="title" hasCustomPrompt="1"/>
          </p:nvPr>
        </p:nvSpPr>
        <p:spPr>
          <a:xfrm>
            <a:off x="579000" y="1033461"/>
            <a:ext cx="11034000" cy="925200"/>
          </a:xfrm>
          <a:prstGeom prst="rect">
            <a:avLst/>
          </a:prstGeom>
        </p:spPr>
        <p:txBody>
          <a:bodyPr anchor="ctr" anchorCtr="0">
            <a:normAutofit/>
          </a:bodyPr>
          <a:lstStyle>
            <a:lvl1pPr>
              <a:defRPr lang="pt-PT" sz="3200" b="1" kern="1200" cap="all" baseline="0" dirty="0" smtClean="0">
                <a:solidFill>
                  <a:schemeClr val="tx1"/>
                </a:solidFill>
                <a:latin typeface="+mn-lt"/>
                <a:ea typeface="+mj-ea"/>
                <a:cs typeface="+mj-cs"/>
              </a:defRPr>
            </a:lvl1pPr>
          </a:lstStyle>
          <a:p>
            <a:r>
              <a:rPr lang="pt-PT" dirty="0"/>
              <a:t>TÍTULO</a:t>
            </a:r>
          </a:p>
        </p:txBody>
      </p:sp>
      <p:sp>
        <p:nvSpPr>
          <p:cNvPr id="3" name="Marcador de Posição do Texto 2">
            <a:extLst>
              <a:ext uri="{FF2B5EF4-FFF2-40B4-BE49-F238E27FC236}">
                <a16:creationId xmlns:a16="http://schemas.microsoft.com/office/drawing/2014/main" id="{439EC8AF-0B13-4409-8EFF-3CAF56DCB6C3}"/>
              </a:ext>
            </a:extLst>
          </p:cNvPr>
          <p:cNvSpPr>
            <a:spLocks noGrp="1"/>
          </p:cNvSpPr>
          <p:nvPr>
            <p:ph type="body" idx="1" hasCustomPrompt="1"/>
          </p:nvPr>
        </p:nvSpPr>
        <p:spPr>
          <a:xfrm>
            <a:off x="579000" y="2081061"/>
            <a:ext cx="5418575" cy="741999"/>
          </a:xfrm>
          <a:prstGeom prst="rect">
            <a:avLst/>
          </a:prstGeom>
        </p:spPr>
        <p:txBody>
          <a:bodyPr anchor="b" anchorCtr="0">
            <a:normAutofit/>
          </a:bodyPr>
          <a:lstStyle>
            <a:lvl1pPr marL="0" indent="0">
              <a:buNone/>
              <a:defRPr lang="pt-PT" sz="2600" b="0" kern="1200" cap="all"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dirty="0"/>
              <a:t>SUBTÍTULO</a:t>
            </a:r>
          </a:p>
        </p:txBody>
      </p:sp>
      <p:sp>
        <p:nvSpPr>
          <p:cNvPr id="4" name="Marcador de Posição de Conteúdo 3">
            <a:extLst>
              <a:ext uri="{FF2B5EF4-FFF2-40B4-BE49-F238E27FC236}">
                <a16:creationId xmlns:a16="http://schemas.microsoft.com/office/drawing/2014/main" id="{12599D6B-3281-438E-8873-2AD3673D4DD3}"/>
              </a:ext>
            </a:extLst>
          </p:cNvPr>
          <p:cNvSpPr>
            <a:spLocks noGrp="1"/>
          </p:cNvSpPr>
          <p:nvPr>
            <p:ph sz="half" idx="2" hasCustomPrompt="1"/>
          </p:nvPr>
        </p:nvSpPr>
        <p:spPr>
          <a:xfrm>
            <a:off x="579000" y="2834004"/>
            <a:ext cx="5418575" cy="3063877"/>
          </a:xfrm>
          <a:prstGeom prst="rect">
            <a:avLst/>
          </a:prstGeom>
        </p:spPr>
        <p:txBody>
          <a:bodyPr/>
          <a:lstStyle>
            <a:lvl1pPr marL="0" indent="0">
              <a:buNone/>
              <a:defRPr sz="2000"/>
            </a:lvl1pPr>
            <a:lvl2pPr>
              <a:defRPr sz="1900"/>
            </a:lvl2pPr>
            <a:lvl3pPr>
              <a:defRPr sz="1800"/>
            </a:lvl3pPr>
            <a:lvl4pPr>
              <a:defRPr sz="1700"/>
            </a:lvl4pPr>
            <a:lvl5pPr>
              <a:defRPr sz="1600"/>
            </a:lvl5pPr>
          </a:lstStyle>
          <a:p>
            <a:pPr lvl="0"/>
            <a:r>
              <a:rPr lang="pt-PT" dirty="0"/>
              <a:t>Clique para adicionar texto</a:t>
            </a:r>
          </a:p>
          <a:p>
            <a:pPr lvl="1"/>
            <a:r>
              <a:rPr lang="pt-PT" dirty="0"/>
              <a:t>Segundo nível</a:t>
            </a:r>
          </a:p>
          <a:p>
            <a:pPr lvl="2"/>
            <a:r>
              <a:rPr lang="pt-PT" dirty="0"/>
              <a:t>Terceiro nível</a:t>
            </a:r>
          </a:p>
          <a:p>
            <a:pPr lvl="3"/>
            <a:r>
              <a:rPr lang="pt-PT" dirty="0"/>
              <a:t>Quarto nível</a:t>
            </a:r>
          </a:p>
          <a:p>
            <a:pPr lvl="4"/>
            <a:r>
              <a:rPr lang="pt-PT" dirty="0"/>
              <a:t>Quinto nível</a:t>
            </a:r>
          </a:p>
        </p:txBody>
      </p:sp>
      <p:sp>
        <p:nvSpPr>
          <p:cNvPr id="5" name="Marcador de Posição do Texto 4">
            <a:extLst>
              <a:ext uri="{FF2B5EF4-FFF2-40B4-BE49-F238E27FC236}">
                <a16:creationId xmlns:a16="http://schemas.microsoft.com/office/drawing/2014/main" id="{68EEDE33-6437-4641-B283-8FF140C85B5D}"/>
              </a:ext>
            </a:extLst>
          </p:cNvPr>
          <p:cNvSpPr>
            <a:spLocks noGrp="1"/>
          </p:cNvSpPr>
          <p:nvPr>
            <p:ph type="body" sz="quarter" idx="3" hasCustomPrompt="1"/>
          </p:nvPr>
        </p:nvSpPr>
        <p:spPr>
          <a:xfrm>
            <a:off x="6176259" y="2081061"/>
            <a:ext cx="5440800" cy="741999"/>
          </a:xfrm>
          <a:prstGeom prst="rect">
            <a:avLst/>
          </a:prstGeom>
        </p:spPr>
        <p:txBody>
          <a:bodyPr anchor="b" anchorCtr="0">
            <a:normAutofit/>
          </a:bodyPr>
          <a:lstStyle>
            <a:lvl1pPr marL="0" indent="0" algn="l" defTabSz="914400" rtl="0" eaLnBrk="1" latinLnBrk="0" hangingPunct="1">
              <a:lnSpc>
                <a:spcPct val="90000"/>
              </a:lnSpc>
              <a:spcBef>
                <a:spcPts val="1000"/>
              </a:spcBef>
              <a:buFont typeface="Arial" panose="020B0604020202020204" pitchFamily="34" charset="0"/>
              <a:buNone/>
              <a:defRPr lang="pt-PT" sz="2600" b="0" kern="1200" cap="all"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pt-PT" dirty="0"/>
              <a:t>SUBTÍTULO</a:t>
            </a:r>
          </a:p>
        </p:txBody>
      </p:sp>
      <p:sp>
        <p:nvSpPr>
          <p:cNvPr id="6" name="Marcador de Posição de Conteúdo 5">
            <a:extLst>
              <a:ext uri="{FF2B5EF4-FFF2-40B4-BE49-F238E27FC236}">
                <a16:creationId xmlns:a16="http://schemas.microsoft.com/office/drawing/2014/main" id="{81DA038B-EDB3-4E51-B2FE-BFC882FC4A63}"/>
              </a:ext>
            </a:extLst>
          </p:cNvPr>
          <p:cNvSpPr>
            <a:spLocks noGrp="1"/>
          </p:cNvSpPr>
          <p:nvPr>
            <p:ph sz="quarter" idx="4" hasCustomPrompt="1"/>
          </p:nvPr>
        </p:nvSpPr>
        <p:spPr>
          <a:xfrm>
            <a:off x="6172200" y="2834004"/>
            <a:ext cx="5440800" cy="3063877"/>
          </a:xfrm>
          <a:prstGeom prst="rect">
            <a:avLst/>
          </a:prstGeom>
        </p:spPr>
        <p:txBody>
          <a:bodyPr/>
          <a:lstStyle>
            <a:lvl1pPr marL="0" indent="0">
              <a:buNone/>
              <a:defRPr sz="2000"/>
            </a:lvl1pPr>
            <a:lvl2pPr>
              <a:defRPr sz="1900"/>
            </a:lvl2pPr>
            <a:lvl3pPr>
              <a:defRPr sz="1800"/>
            </a:lvl3pPr>
            <a:lvl4pPr>
              <a:defRPr sz="1700"/>
            </a:lvl4pPr>
            <a:lvl5pPr>
              <a:defRPr sz="1600"/>
            </a:lvl5pPr>
          </a:lstStyle>
          <a:p>
            <a:pPr lvl="0"/>
            <a:r>
              <a:rPr lang="pt-PT" dirty="0"/>
              <a:t>Clique para adicionar texto</a:t>
            </a:r>
          </a:p>
          <a:p>
            <a:pPr lvl="1"/>
            <a:r>
              <a:rPr lang="pt-PT" dirty="0"/>
              <a:t>Segundo nível</a:t>
            </a:r>
          </a:p>
          <a:p>
            <a:pPr lvl="2"/>
            <a:r>
              <a:rPr lang="pt-PT" dirty="0"/>
              <a:t>Terceiro nível</a:t>
            </a:r>
          </a:p>
          <a:p>
            <a:pPr lvl="3"/>
            <a:r>
              <a:rPr lang="pt-PT" dirty="0"/>
              <a:t>Quarto nível</a:t>
            </a:r>
          </a:p>
          <a:p>
            <a:pPr lvl="4"/>
            <a:r>
              <a:rPr lang="pt-PT" dirty="0"/>
              <a:t>Quinto nível</a:t>
            </a:r>
          </a:p>
        </p:txBody>
      </p:sp>
      <p:sp>
        <p:nvSpPr>
          <p:cNvPr id="14" name="Marcador de Posição do Texto 29">
            <a:extLst>
              <a:ext uri="{FF2B5EF4-FFF2-40B4-BE49-F238E27FC236}">
                <a16:creationId xmlns:a16="http://schemas.microsoft.com/office/drawing/2014/main" id="{F96B95D7-BFB1-40D3-9A20-2703992A380A}"/>
              </a:ext>
            </a:extLst>
          </p:cNvPr>
          <p:cNvSpPr>
            <a:spLocks noGrp="1"/>
          </p:cNvSpPr>
          <p:nvPr>
            <p:ph type="body" sz="quarter" idx="16" hasCustomPrompt="1"/>
          </p:nvPr>
        </p:nvSpPr>
        <p:spPr>
          <a:xfrm>
            <a:off x="579000" y="6004800"/>
            <a:ext cx="3916680" cy="365125"/>
          </a:xfrm>
          <a:prstGeom prst="rect">
            <a:avLst/>
          </a:prstGeom>
        </p:spPr>
        <p:txBody>
          <a:bodyPr anchor="ctr" anchorCtr="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solidFill>
                  <a:schemeClr val="tx1">
                    <a:lumMod val="50000"/>
                    <a:lumOff val="50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pt-PT" dirty="0"/>
              <a:t>nº | Nome do autor</a:t>
            </a:r>
          </a:p>
        </p:txBody>
      </p:sp>
    </p:spTree>
    <p:extLst>
      <p:ext uri="{BB962C8B-B14F-4D97-AF65-F5344CB8AC3E}">
        <p14:creationId xmlns:p14="http://schemas.microsoft.com/office/powerpoint/2010/main" val="3533450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ó Título">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1C85A762-6684-4962-9E03-EC49323446E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D52A41CF-09F1-4F5D-AE7F-7FA004AF353D}"/>
              </a:ext>
            </a:extLst>
          </p:cNvPr>
          <p:cNvSpPr>
            <a:spLocks noGrp="1"/>
          </p:cNvSpPr>
          <p:nvPr>
            <p:ph type="title" hasCustomPrompt="1"/>
          </p:nvPr>
        </p:nvSpPr>
        <p:spPr>
          <a:xfrm>
            <a:off x="579000" y="1033461"/>
            <a:ext cx="11034000" cy="925200"/>
          </a:xfrm>
          <a:prstGeom prst="rect">
            <a:avLst/>
          </a:prstGeom>
        </p:spPr>
        <p:txBody>
          <a:bodyPr anchor="ctr" anchorCtr="0">
            <a:normAutofit/>
          </a:bodyPr>
          <a:lstStyle>
            <a:lvl1pPr>
              <a:defRPr lang="pt-PT" sz="3200" b="1" kern="1200" cap="all" baseline="0" dirty="0" smtClean="0">
                <a:solidFill>
                  <a:schemeClr val="tx1"/>
                </a:solidFill>
                <a:latin typeface="+mn-lt"/>
                <a:ea typeface="+mj-ea"/>
                <a:cs typeface="+mj-cs"/>
              </a:defRPr>
            </a:lvl1pPr>
          </a:lstStyle>
          <a:p>
            <a:r>
              <a:rPr lang="pt-PT" dirty="0"/>
              <a:t>TÍTULO</a:t>
            </a:r>
          </a:p>
        </p:txBody>
      </p:sp>
      <p:sp>
        <p:nvSpPr>
          <p:cNvPr id="8" name="Marcador de Posição do Texto 29">
            <a:extLst>
              <a:ext uri="{FF2B5EF4-FFF2-40B4-BE49-F238E27FC236}">
                <a16:creationId xmlns:a16="http://schemas.microsoft.com/office/drawing/2014/main" id="{2C6FDBB1-205A-41C2-BBE8-29AF1011776A}"/>
              </a:ext>
            </a:extLst>
          </p:cNvPr>
          <p:cNvSpPr>
            <a:spLocks noGrp="1"/>
          </p:cNvSpPr>
          <p:nvPr>
            <p:ph type="body" sz="quarter" idx="16" hasCustomPrompt="1"/>
          </p:nvPr>
        </p:nvSpPr>
        <p:spPr>
          <a:xfrm>
            <a:off x="579000" y="6004800"/>
            <a:ext cx="3916680" cy="365125"/>
          </a:xfrm>
          <a:prstGeom prst="rect">
            <a:avLst/>
          </a:prstGeom>
        </p:spPr>
        <p:txBody>
          <a:bodyPr anchor="ctr" anchorCtr="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solidFill>
                  <a:schemeClr val="tx1">
                    <a:lumMod val="50000"/>
                    <a:lumOff val="50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pt-PT" dirty="0"/>
              <a:t>nº | Nome do autor</a:t>
            </a:r>
          </a:p>
        </p:txBody>
      </p:sp>
    </p:spTree>
    <p:extLst>
      <p:ext uri="{BB962C8B-B14F-4D97-AF65-F5344CB8AC3E}">
        <p14:creationId xmlns:p14="http://schemas.microsoft.com/office/powerpoint/2010/main" val="314145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m branco">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B0CBD7EB-65EB-4FA0-90FD-137E9630C8A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Marcador de Posição do Texto 29">
            <a:extLst>
              <a:ext uri="{FF2B5EF4-FFF2-40B4-BE49-F238E27FC236}">
                <a16:creationId xmlns:a16="http://schemas.microsoft.com/office/drawing/2014/main" id="{482C18DE-31A1-4627-BE7C-FCA18E2901E0}"/>
              </a:ext>
            </a:extLst>
          </p:cNvPr>
          <p:cNvSpPr>
            <a:spLocks noGrp="1"/>
          </p:cNvSpPr>
          <p:nvPr>
            <p:ph type="body" sz="quarter" idx="16" hasCustomPrompt="1"/>
          </p:nvPr>
        </p:nvSpPr>
        <p:spPr>
          <a:xfrm>
            <a:off x="579000" y="6004800"/>
            <a:ext cx="3916680" cy="365125"/>
          </a:xfrm>
          <a:prstGeom prst="rect">
            <a:avLst/>
          </a:prstGeom>
        </p:spPr>
        <p:txBody>
          <a:bodyPr anchor="ctr" anchorCtr="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solidFill>
                  <a:schemeClr val="tx1">
                    <a:lumMod val="50000"/>
                    <a:lumOff val="50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pt-PT" dirty="0"/>
              <a:t>nº | Nome do autor</a:t>
            </a:r>
          </a:p>
        </p:txBody>
      </p:sp>
    </p:spTree>
    <p:extLst>
      <p:ext uri="{BB962C8B-B14F-4D97-AF65-F5344CB8AC3E}">
        <p14:creationId xmlns:p14="http://schemas.microsoft.com/office/powerpoint/2010/main" val="1715303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údo com Legenda">
    <p:spTree>
      <p:nvGrpSpPr>
        <p:cNvPr id="1" name=""/>
        <p:cNvGrpSpPr/>
        <p:nvPr/>
      </p:nvGrpSpPr>
      <p:grpSpPr>
        <a:xfrm>
          <a:off x="0" y="0"/>
          <a:ext cx="0" cy="0"/>
          <a:chOff x="0" y="0"/>
          <a:chExt cx="0" cy="0"/>
        </a:xfrm>
      </p:grpSpPr>
      <p:pic>
        <p:nvPicPr>
          <p:cNvPr id="8" name="Picture 6">
            <a:extLst>
              <a:ext uri="{FF2B5EF4-FFF2-40B4-BE49-F238E27FC236}">
                <a16:creationId xmlns:a16="http://schemas.microsoft.com/office/drawing/2014/main" id="{3E892D03-5446-4198-8A7B-742588FD8C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63C82440-FEC6-4FD1-858E-8B1DC7DAD0EF}"/>
              </a:ext>
            </a:extLst>
          </p:cNvPr>
          <p:cNvSpPr>
            <a:spLocks noGrp="1"/>
          </p:cNvSpPr>
          <p:nvPr>
            <p:ph type="title" hasCustomPrompt="1"/>
          </p:nvPr>
        </p:nvSpPr>
        <p:spPr>
          <a:xfrm>
            <a:off x="579000" y="926037"/>
            <a:ext cx="4193025" cy="1600200"/>
          </a:xfrm>
          <a:prstGeom prst="rect">
            <a:avLst/>
          </a:prstGeom>
        </p:spPr>
        <p:txBody>
          <a:bodyPr anchor="b">
            <a:normAutofit/>
          </a:bodyPr>
          <a:lstStyle>
            <a:lvl1pPr>
              <a:defRPr lang="pt-PT" sz="3200" b="1" kern="1200" cap="all" baseline="0" dirty="0" smtClean="0">
                <a:solidFill>
                  <a:schemeClr val="tx1"/>
                </a:solidFill>
                <a:latin typeface="+mn-lt"/>
                <a:ea typeface="+mj-ea"/>
                <a:cs typeface="+mj-cs"/>
              </a:defRPr>
            </a:lvl1pPr>
          </a:lstStyle>
          <a:p>
            <a:r>
              <a:rPr lang="pt-PT" dirty="0"/>
              <a:t>TÍTULO</a:t>
            </a:r>
          </a:p>
        </p:txBody>
      </p:sp>
      <p:sp>
        <p:nvSpPr>
          <p:cNvPr id="3" name="Marcador de Posição de Conteúdo 2">
            <a:extLst>
              <a:ext uri="{FF2B5EF4-FFF2-40B4-BE49-F238E27FC236}">
                <a16:creationId xmlns:a16="http://schemas.microsoft.com/office/drawing/2014/main" id="{254F1050-09C5-4310-9B43-FEE04C89E93E}"/>
              </a:ext>
            </a:extLst>
          </p:cNvPr>
          <p:cNvSpPr>
            <a:spLocks noGrp="1"/>
          </p:cNvSpPr>
          <p:nvPr>
            <p:ph idx="1" hasCustomPrompt="1"/>
          </p:nvPr>
        </p:nvSpPr>
        <p:spPr>
          <a:xfrm>
            <a:off x="5183188" y="1033461"/>
            <a:ext cx="6429812" cy="4873625"/>
          </a:xfrm>
          <a:prstGeom prst="rect">
            <a:avLst/>
          </a:prstGeom>
        </p:spPr>
        <p:txBody>
          <a:bodyPr/>
          <a:lstStyle>
            <a:lvl1pPr marL="0" indent="0">
              <a:buNone/>
              <a:defRPr sz="2000"/>
            </a:lvl1pPr>
            <a:lvl2pPr>
              <a:defRPr sz="1900"/>
            </a:lvl2pPr>
            <a:lvl3pPr>
              <a:defRPr sz="1800"/>
            </a:lvl3pPr>
            <a:lvl4pPr>
              <a:defRPr sz="1700"/>
            </a:lvl4pPr>
            <a:lvl5pPr>
              <a:defRPr sz="1600"/>
            </a:lvl5pPr>
            <a:lvl6pPr>
              <a:defRPr sz="2000"/>
            </a:lvl6pPr>
            <a:lvl7pPr>
              <a:defRPr sz="2000"/>
            </a:lvl7pPr>
            <a:lvl8pPr>
              <a:defRPr sz="2000"/>
            </a:lvl8pPr>
            <a:lvl9pPr>
              <a:defRPr sz="2000"/>
            </a:lvl9pPr>
          </a:lstStyle>
          <a:p>
            <a:pPr lvl="0"/>
            <a:r>
              <a:rPr lang="pt-PT" dirty="0"/>
              <a:t>Clique para adicionar texto</a:t>
            </a:r>
          </a:p>
          <a:p>
            <a:pPr lvl="1"/>
            <a:r>
              <a:rPr lang="pt-PT" dirty="0"/>
              <a:t>Segundo nível</a:t>
            </a:r>
          </a:p>
          <a:p>
            <a:pPr lvl="2"/>
            <a:r>
              <a:rPr lang="pt-PT" dirty="0"/>
              <a:t>Terceiro nível</a:t>
            </a:r>
          </a:p>
          <a:p>
            <a:pPr lvl="3"/>
            <a:r>
              <a:rPr lang="pt-PT" dirty="0"/>
              <a:t>Quarto nível</a:t>
            </a:r>
          </a:p>
          <a:p>
            <a:pPr lvl="4"/>
            <a:r>
              <a:rPr lang="pt-PT" dirty="0"/>
              <a:t>Quinto nível</a:t>
            </a:r>
          </a:p>
        </p:txBody>
      </p:sp>
      <p:sp>
        <p:nvSpPr>
          <p:cNvPr id="4" name="Marcador de Posição do Texto 3">
            <a:extLst>
              <a:ext uri="{FF2B5EF4-FFF2-40B4-BE49-F238E27FC236}">
                <a16:creationId xmlns:a16="http://schemas.microsoft.com/office/drawing/2014/main" id="{F1C91861-C5B2-41D1-86A7-CDF7E3A30E25}"/>
              </a:ext>
            </a:extLst>
          </p:cNvPr>
          <p:cNvSpPr>
            <a:spLocks noGrp="1"/>
          </p:cNvSpPr>
          <p:nvPr>
            <p:ph type="body" sz="half" idx="2" hasCustomPrompt="1"/>
          </p:nvPr>
        </p:nvSpPr>
        <p:spPr>
          <a:xfrm>
            <a:off x="579000" y="2526238"/>
            <a:ext cx="4193025" cy="3371644"/>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dirty="0"/>
              <a:t>Clique para adicionar texto</a:t>
            </a:r>
          </a:p>
        </p:txBody>
      </p:sp>
      <p:sp>
        <p:nvSpPr>
          <p:cNvPr id="9" name="Marcador de Posição do Texto 29">
            <a:extLst>
              <a:ext uri="{FF2B5EF4-FFF2-40B4-BE49-F238E27FC236}">
                <a16:creationId xmlns:a16="http://schemas.microsoft.com/office/drawing/2014/main" id="{07A4CE7A-A555-4E50-8228-FE3101900088}"/>
              </a:ext>
            </a:extLst>
          </p:cNvPr>
          <p:cNvSpPr>
            <a:spLocks noGrp="1"/>
          </p:cNvSpPr>
          <p:nvPr>
            <p:ph type="body" sz="quarter" idx="15" hasCustomPrompt="1"/>
          </p:nvPr>
        </p:nvSpPr>
        <p:spPr>
          <a:xfrm>
            <a:off x="579000" y="6004800"/>
            <a:ext cx="3916680" cy="365125"/>
          </a:xfrm>
          <a:prstGeom prst="rect">
            <a:avLst/>
          </a:prstGeom>
        </p:spPr>
        <p:txBody>
          <a:bodyPr anchor="ctr" anchorCtr="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solidFill>
                  <a:schemeClr val="tx1">
                    <a:lumMod val="50000"/>
                    <a:lumOff val="50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pt-PT" dirty="0"/>
              <a:t>nº | Nome do autor</a:t>
            </a:r>
          </a:p>
        </p:txBody>
      </p:sp>
    </p:spTree>
    <p:extLst>
      <p:ext uri="{BB962C8B-B14F-4D97-AF65-F5344CB8AC3E}">
        <p14:creationId xmlns:p14="http://schemas.microsoft.com/office/powerpoint/2010/main" val="3518153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m com Legenda">
    <p:spTree>
      <p:nvGrpSpPr>
        <p:cNvPr id="1" name=""/>
        <p:cNvGrpSpPr/>
        <p:nvPr/>
      </p:nvGrpSpPr>
      <p:grpSpPr>
        <a:xfrm>
          <a:off x="0" y="0"/>
          <a:ext cx="0" cy="0"/>
          <a:chOff x="0" y="0"/>
          <a:chExt cx="0" cy="0"/>
        </a:xfrm>
      </p:grpSpPr>
      <p:pic>
        <p:nvPicPr>
          <p:cNvPr id="8" name="Picture 6">
            <a:extLst>
              <a:ext uri="{FF2B5EF4-FFF2-40B4-BE49-F238E27FC236}">
                <a16:creationId xmlns:a16="http://schemas.microsoft.com/office/drawing/2014/main" id="{A0C05F4E-488E-4142-AF90-7CD29A6269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Marcador de Posição do Texto 3">
            <a:extLst>
              <a:ext uri="{FF2B5EF4-FFF2-40B4-BE49-F238E27FC236}">
                <a16:creationId xmlns:a16="http://schemas.microsoft.com/office/drawing/2014/main" id="{2CC42663-7884-4DA9-9177-B62F42054E95}"/>
              </a:ext>
            </a:extLst>
          </p:cNvPr>
          <p:cNvSpPr>
            <a:spLocks noGrp="1"/>
          </p:cNvSpPr>
          <p:nvPr>
            <p:ph type="body" sz="half" idx="2" hasCustomPrompt="1"/>
          </p:nvPr>
        </p:nvSpPr>
        <p:spPr>
          <a:xfrm>
            <a:off x="579000" y="2527461"/>
            <a:ext cx="4193025" cy="3365225"/>
          </a:xfrm>
          <a:prstGeom prst="rect">
            <a:avLst/>
          </a:prstGeo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dirty="0"/>
              <a:t>Clique para adicionar texto</a:t>
            </a:r>
          </a:p>
        </p:txBody>
      </p:sp>
      <p:sp>
        <p:nvSpPr>
          <p:cNvPr id="2" name="Título 1">
            <a:extLst>
              <a:ext uri="{FF2B5EF4-FFF2-40B4-BE49-F238E27FC236}">
                <a16:creationId xmlns:a16="http://schemas.microsoft.com/office/drawing/2014/main" id="{F335DEFA-E982-4988-922A-CD2651A9BF6F}"/>
              </a:ext>
            </a:extLst>
          </p:cNvPr>
          <p:cNvSpPr>
            <a:spLocks noGrp="1"/>
          </p:cNvSpPr>
          <p:nvPr>
            <p:ph type="title" hasCustomPrompt="1"/>
          </p:nvPr>
        </p:nvSpPr>
        <p:spPr>
          <a:xfrm>
            <a:off x="579000" y="925461"/>
            <a:ext cx="4193025" cy="1600200"/>
          </a:xfrm>
          <a:prstGeom prst="rect">
            <a:avLst/>
          </a:prstGeom>
        </p:spPr>
        <p:txBody>
          <a:bodyPr anchor="b">
            <a:normAutofit/>
          </a:bodyPr>
          <a:lstStyle>
            <a:lvl1pPr>
              <a:defRPr lang="pt-PT" sz="3200" b="1" kern="1200" cap="all" baseline="0" dirty="0" smtClean="0">
                <a:solidFill>
                  <a:schemeClr val="tx1"/>
                </a:solidFill>
                <a:latin typeface="+mn-lt"/>
                <a:ea typeface="+mj-ea"/>
                <a:cs typeface="+mj-cs"/>
              </a:defRPr>
            </a:lvl1pPr>
          </a:lstStyle>
          <a:p>
            <a:r>
              <a:rPr lang="pt-PT" dirty="0"/>
              <a:t>TÍTULO</a:t>
            </a:r>
          </a:p>
        </p:txBody>
      </p:sp>
      <p:sp>
        <p:nvSpPr>
          <p:cNvPr id="3" name="Marcador de Posição da Imagem 2">
            <a:extLst>
              <a:ext uri="{FF2B5EF4-FFF2-40B4-BE49-F238E27FC236}">
                <a16:creationId xmlns:a16="http://schemas.microsoft.com/office/drawing/2014/main" id="{27F0BDCE-677D-4316-AE6C-DE4C5B7314FE}"/>
              </a:ext>
            </a:extLst>
          </p:cNvPr>
          <p:cNvSpPr>
            <a:spLocks noGrp="1"/>
          </p:cNvSpPr>
          <p:nvPr>
            <p:ph type="pic" idx="1" hasCustomPrompt="1"/>
          </p:nvPr>
        </p:nvSpPr>
        <p:spPr>
          <a:xfrm>
            <a:off x="5183188" y="1019061"/>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PT" dirty="0"/>
              <a:t>Imagem</a:t>
            </a:r>
          </a:p>
        </p:txBody>
      </p:sp>
      <p:sp>
        <p:nvSpPr>
          <p:cNvPr id="9" name="Marcador de Posição do Texto 29">
            <a:extLst>
              <a:ext uri="{FF2B5EF4-FFF2-40B4-BE49-F238E27FC236}">
                <a16:creationId xmlns:a16="http://schemas.microsoft.com/office/drawing/2014/main" id="{45202E99-7244-44F2-BB34-B217A088991F}"/>
              </a:ext>
            </a:extLst>
          </p:cNvPr>
          <p:cNvSpPr>
            <a:spLocks noGrp="1"/>
          </p:cNvSpPr>
          <p:nvPr>
            <p:ph type="body" sz="quarter" idx="15" hasCustomPrompt="1"/>
          </p:nvPr>
        </p:nvSpPr>
        <p:spPr>
          <a:xfrm>
            <a:off x="579000" y="6004800"/>
            <a:ext cx="3916680" cy="365125"/>
          </a:xfrm>
          <a:prstGeom prst="rect">
            <a:avLst/>
          </a:prstGeom>
        </p:spPr>
        <p:txBody>
          <a:bodyPr anchor="ctr" anchorCtr="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solidFill>
                  <a:schemeClr val="tx1">
                    <a:lumMod val="50000"/>
                    <a:lumOff val="50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pt-PT" dirty="0"/>
              <a:t>nº | Nome do autor</a:t>
            </a:r>
          </a:p>
        </p:txBody>
      </p:sp>
    </p:spTree>
    <p:extLst>
      <p:ext uri="{BB962C8B-B14F-4D97-AF65-F5344CB8AC3E}">
        <p14:creationId xmlns:p14="http://schemas.microsoft.com/office/powerpoint/2010/main" val="2491704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Diapositivo final">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01CCE28A-089C-4C45-DBDF-2ABB06B24E3C}"/>
              </a:ext>
            </a:extLst>
          </p:cNvPr>
          <p:cNvGrpSpPr/>
          <p:nvPr userDrawn="1"/>
        </p:nvGrpSpPr>
        <p:grpSpPr>
          <a:xfrm>
            <a:off x="0" y="0"/>
            <a:ext cx="12192000" cy="6858000"/>
            <a:chOff x="0" y="0"/>
            <a:chExt cx="12192000" cy="6858000"/>
          </a:xfrm>
        </p:grpSpPr>
        <p:pic>
          <p:nvPicPr>
            <p:cNvPr id="4" name="Picture 4">
              <a:extLst>
                <a:ext uri="{FF2B5EF4-FFF2-40B4-BE49-F238E27FC236}">
                  <a16:creationId xmlns:a16="http://schemas.microsoft.com/office/drawing/2014/main" id="{EAC2E4EA-64D5-433D-A73F-F07DD8E1E2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9628FF19-CC23-37FC-782E-BF8326B29311}"/>
                </a:ext>
              </a:extLst>
            </p:cNvPr>
            <p:cNvSpPr/>
            <p:nvPr userDrawn="1"/>
          </p:nvSpPr>
          <p:spPr>
            <a:xfrm>
              <a:off x="4288971" y="2794000"/>
              <a:ext cx="3628572" cy="11611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grpSp>
      <p:pic>
        <p:nvPicPr>
          <p:cNvPr id="6" name="Picture 5" descr="A close up of a logo&#10;&#10;AI-generated content may be incorrect.">
            <a:extLst>
              <a:ext uri="{FF2B5EF4-FFF2-40B4-BE49-F238E27FC236}">
                <a16:creationId xmlns:a16="http://schemas.microsoft.com/office/drawing/2014/main" id="{BE5994BD-E1A8-B832-B0D2-81CA0E8A3E6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924319" y="2934070"/>
            <a:ext cx="4343363" cy="868673"/>
          </a:xfrm>
          <a:prstGeom prst="rect">
            <a:avLst/>
          </a:prstGeom>
        </p:spPr>
      </p:pic>
    </p:spTree>
    <p:extLst>
      <p:ext uri="{BB962C8B-B14F-4D97-AF65-F5344CB8AC3E}">
        <p14:creationId xmlns:p14="http://schemas.microsoft.com/office/powerpoint/2010/main" val="1154901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B26D4213-576E-45AE-906C-397854301A9E}"/>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31320292"/>
      </p:ext>
    </p:extLst>
  </p:cSld>
  <p:clrMap bg1="lt1" tx1="dk1" bg2="lt2" tx2="dk2" accent1="accent1" accent2="accent2" accent3="accent3" accent4="accent4" accent5="accent5" accent6="accent6" hlink="hlink" folHlink="folHlink"/>
  <p:sldLayoutIdLst>
    <p:sldLayoutId id="2147483657" r:id="rId1"/>
    <p:sldLayoutId id="2147483670"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780761" y="3150000"/>
            <a:ext cx="8449200" cy="1000000"/>
          </a:xfrm>
        </p:spPr>
        <p:txBody>
          <a:bodyPr>
            <a:normAutofit lnSpcReduction="10000"/>
          </a:bodyPr>
          <a:lstStyle/>
          <a:p>
            <a:pPr>
              <a:spcAft>
                <a:spcPts val="600"/>
              </a:spcAft>
            </a:pPr>
            <a:r>
              <a:rPr sz="2000" dirty="0" err="1"/>
              <a:t>An</a:t>
            </a:r>
            <a:r>
              <a:rPr sz="2000" dirty="0"/>
              <a:t> </a:t>
            </a:r>
            <a:r>
              <a:rPr sz="2000" dirty="0" err="1"/>
              <a:t>agent-based</a:t>
            </a:r>
            <a:r>
              <a:rPr sz="2000" dirty="0"/>
              <a:t> </a:t>
            </a:r>
            <a:r>
              <a:rPr sz="2000" dirty="0" err="1"/>
              <a:t>model</a:t>
            </a:r>
            <a:r>
              <a:rPr sz="2000" dirty="0"/>
              <a:t> </a:t>
            </a:r>
            <a:r>
              <a:rPr sz="2000" dirty="0" err="1"/>
              <a:t>of</a:t>
            </a:r>
            <a:r>
              <a:rPr sz="2000" dirty="0"/>
              <a:t> </a:t>
            </a:r>
            <a:r>
              <a:rPr sz="2000" dirty="0" err="1"/>
              <a:t>DIGI’s</a:t>
            </a:r>
            <a:r>
              <a:rPr sz="2000" dirty="0"/>
              <a:t> </a:t>
            </a:r>
            <a:r>
              <a:rPr sz="2000" dirty="0" err="1"/>
              <a:t>entry</a:t>
            </a:r>
            <a:r>
              <a:rPr sz="2000" dirty="0"/>
              <a:t> </a:t>
            </a:r>
            <a:r>
              <a:rPr sz="2000" dirty="0" err="1"/>
              <a:t>into</a:t>
            </a:r>
            <a:r>
              <a:rPr sz="2000" dirty="0"/>
              <a:t> </a:t>
            </a:r>
            <a:r>
              <a:rPr sz="2000" dirty="0" err="1"/>
              <a:t>the</a:t>
            </a:r>
            <a:r>
              <a:rPr sz="2000" dirty="0"/>
              <a:t> Portuguese </a:t>
            </a:r>
            <a:r>
              <a:rPr sz="2000" dirty="0" err="1"/>
              <a:t>bundled-services</a:t>
            </a:r>
            <a:r>
              <a:rPr sz="2000" dirty="0"/>
              <a:t> </a:t>
            </a:r>
            <a:r>
              <a:rPr sz="2000" dirty="0" err="1"/>
              <a:t>market</a:t>
            </a:r>
            <a:endParaRPr sz="2000" dirty="0"/>
          </a:p>
          <a:p>
            <a:pPr>
              <a:spcAft>
                <a:spcPts val="600"/>
              </a:spcAft>
            </a:pPr>
            <a:r>
              <a:rPr sz="1600" dirty="0">
                <a:solidFill>
                  <a:srgbClr val="565349"/>
                </a:solidFill>
              </a:rPr>
              <a:t>30 </a:t>
            </a:r>
            <a:r>
              <a:rPr sz="1600" dirty="0" err="1">
                <a:solidFill>
                  <a:srgbClr val="565349"/>
                </a:solidFill>
              </a:rPr>
              <a:t>October</a:t>
            </a:r>
            <a:r>
              <a:rPr sz="1600" dirty="0">
                <a:solidFill>
                  <a:srgbClr val="565349"/>
                </a:solidFill>
              </a:rPr>
              <a:t> 2026 | Project 1 · </a:t>
            </a:r>
            <a:r>
              <a:rPr lang="pt-PT" sz="1600" dirty="0" err="1">
                <a:solidFill>
                  <a:srgbClr val="565349"/>
                </a:solidFill>
              </a:rPr>
              <a:t>Agentic</a:t>
            </a:r>
            <a:r>
              <a:rPr lang="pt-PT" sz="1600" dirty="0">
                <a:solidFill>
                  <a:srgbClr val="565349"/>
                </a:solidFill>
              </a:rPr>
              <a:t> AI</a:t>
            </a:r>
            <a:endParaRPr sz="1600" dirty="0">
              <a:solidFill>
                <a:srgbClr val="565349"/>
              </a:solidFill>
            </a:endParaRPr>
          </a:p>
        </p:txBody>
      </p:sp>
      <p:sp>
        <p:nvSpPr>
          <p:cNvPr id="3" name="Title 2"/>
          <p:cNvSpPr>
            <a:spLocks noGrp="1"/>
          </p:cNvSpPr>
          <p:nvPr>
            <p:ph type="ctrTitle"/>
          </p:nvPr>
        </p:nvSpPr>
        <p:spPr>
          <a:xfrm>
            <a:off x="780761" y="1900000"/>
            <a:ext cx="8449200" cy="1150000"/>
          </a:xfrm>
        </p:spPr>
        <p:txBody>
          <a:bodyPr/>
          <a:lstStyle/>
          <a:p>
            <a:r>
              <a:t>How do incumbents respond when a low-cost rival enters?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p:txBody>
          <a:bodyPr/>
          <a:lstStyle/>
          <a:p>
            <a:endParaRPr/>
          </a:p>
        </p:txBody>
      </p:sp>
      <p:sp>
        <p:nvSpPr>
          <p:cNvPr id="5" name="Title 4"/>
          <p:cNvSpPr>
            <a:spLocks noGrp="1"/>
          </p:cNvSpPr>
          <p:nvPr>
            <p:ph type="title"/>
          </p:nvPr>
        </p:nvSpPr>
        <p:spPr/>
        <p:txBody>
          <a:bodyPr/>
          <a:lstStyle/>
          <a:p>
            <a:r>
              <a:t>Consumer Choice: habit, exploration, utility</a:t>
            </a:r>
          </a:p>
        </p:txBody>
      </p:sp>
      <p:sp>
        <p:nvSpPr>
          <p:cNvPr id="6" name="Text Placeholder 5"/>
          <p:cNvSpPr>
            <a:spLocks noGrp="1"/>
          </p:cNvSpPr>
          <p:nvPr>
            <p:ph type="body" sz="quarter" idx="17"/>
          </p:nvPr>
        </p:nvSpPr>
        <p:spPr>
          <a:xfrm>
            <a:off x="579000" y="1633071"/>
            <a:ext cx="11034000" cy="421893"/>
          </a:xfrm>
        </p:spPr>
        <p:txBody>
          <a:bodyPr/>
          <a:lstStyle/>
          <a:p>
            <a:r>
              <a:rPr dirty="0"/>
              <a:t>| </a:t>
            </a:r>
            <a:r>
              <a:rPr dirty="0" err="1"/>
              <a:t>Tasks</a:t>
            </a:r>
            <a:r>
              <a:rPr dirty="0"/>
              <a:t> 1-2 · </a:t>
            </a:r>
            <a:r>
              <a:rPr dirty="0" err="1"/>
              <a:t>Baseline</a:t>
            </a:r>
            <a:r>
              <a:rPr dirty="0"/>
              <a:t> </a:t>
            </a:r>
            <a:r>
              <a:rPr dirty="0" err="1"/>
              <a:t>model</a:t>
            </a:r>
            <a:endParaRPr dirty="0"/>
          </a:p>
        </p:txBody>
      </p:sp>
      <p:sp>
        <p:nvSpPr>
          <p:cNvPr id="7" name="Rounded Rectangle 6"/>
          <p:cNvSpPr/>
          <p:nvPr/>
        </p:nvSpPr>
        <p:spPr>
          <a:xfrm>
            <a:off x="579000" y="2250000"/>
            <a:ext cx="4300000" cy="1020000"/>
          </a:xfrm>
          <a:prstGeom prst="round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8" name="Oval 7"/>
          <p:cNvSpPr/>
          <p:nvPr/>
        </p:nvSpPr>
        <p:spPr>
          <a:xfrm>
            <a:off x="749000" y="2530000"/>
            <a:ext cx="460000" cy="460000"/>
          </a:xfrm>
          <a:prstGeom prst="ellipse">
            <a:avLst/>
          </a:prstGeom>
          <a:solidFill>
            <a:srgbClr val="F431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FFFFF"/>
                </a:solidFill>
              </a:rPr>
              <a:t>1</a:t>
            </a:r>
          </a:p>
        </p:txBody>
      </p:sp>
      <p:sp>
        <p:nvSpPr>
          <p:cNvPr id="9" name="TextBox 8"/>
          <p:cNvSpPr txBox="1"/>
          <p:nvPr/>
        </p:nvSpPr>
        <p:spPr>
          <a:xfrm>
            <a:off x="1379000" y="2340000"/>
            <a:ext cx="3350000" cy="840000"/>
          </a:xfrm>
          <a:prstGeom prst="rect">
            <a:avLst/>
          </a:prstGeom>
          <a:noFill/>
        </p:spPr>
        <p:txBody>
          <a:bodyPr wrap="square" lIns="0" tIns="0" rIns="0" bIns="0" anchor="ctr">
            <a:spAutoFit/>
          </a:bodyPr>
          <a:lstStyle/>
          <a:p>
            <a:r>
              <a:rPr sz="1800" b="1">
                <a:solidFill>
                  <a:srgbClr val="1A1A1A"/>
                </a:solidFill>
              </a:rPr>
              <a:t>Habit</a:t>
            </a:r>
          </a:p>
          <a:p>
            <a:r>
              <a:rPr sz="1500">
                <a:solidFill>
                  <a:srgbClr val="565349"/>
                </a:solidFill>
              </a:rPr>
              <a:t>keep the product with probability equal to satisfaction, log₁₀(1 + 9q)</a:t>
            </a:r>
          </a:p>
        </p:txBody>
      </p:sp>
      <p:sp>
        <p:nvSpPr>
          <p:cNvPr id="10" name="Rounded Rectangle 9"/>
          <p:cNvSpPr/>
          <p:nvPr/>
        </p:nvSpPr>
        <p:spPr>
          <a:xfrm>
            <a:off x="579000" y="3400000"/>
            <a:ext cx="4300000" cy="1020000"/>
          </a:xfrm>
          <a:prstGeom prst="round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1" name="Oval 10"/>
          <p:cNvSpPr/>
          <p:nvPr/>
        </p:nvSpPr>
        <p:spPr>
          <a:xfrm>
            <a:off x="749000" y="3680000"/>
            <a:ext cx="460000" cy="460000"/>
          </a:xfrm>
          <a:prstGeom prst="ellipse">
            <a:avLst/>
          </a:prstGeom>
          <a:solidFill>
            <a:srgbClr val="F431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FFFFF"/>
                </a:solidFill>
              </a:rPr>
              <a:t>2</a:t>
            </a:r>
          </a:p>
        </p:txBody>
      </p:sp>
      <p:sp>
        <p:nvSpPr>
          <p:cNvPr id="12" name="TextBox 11"/>
          <p:cNvSpPr txBox="1"/>
          <p:nvPr/>
        </p:nvSpPr>
        <p:spPr>
          <a:xfrm>
            <a:off x="1379000" y="3490000"/>
            <a:ext cx="3350000" cy="840000"/>
          </a:xfrm>
          <a:prstGeom prst="rect">
            <a:avLst/>
          </a:prstGeom>
          <a:noFill/>
        </p:spPr>
        <p:txBody>
          <a:bodyPr wrap="square" lIns="0" tIns="0" rIns="0" bIns="0" anchor="ctr">
            <a:spAutoFit/>
          </a:bodyPr>
          <a:lstStyle/>
          <a:p>
            <a:r>
              <a:rPr sz="1800" b="1">
                <a:solidFill>
                  <a:srgbClr val="1A1A1A"/>
                </a:solidFill>
              </a:rPr>
              <a:t>Exploration</a:t>
            </a:r>
          </a:p>
          <a:p>
            <a:r>
              <a:rPr sz="1500">
                <a:solidFill>
                  <a:srgbClr val="565349"/>
                </a:solidFill>
              </a:rPr>
              <a:t>otherwise, try another product with a small probability ε</a:t>
            </a:r>
          </a:p>
        </p:txBody>
      </p:sp>
      <p:sp>
        <p:nvSpPr>
          <p:cNvPr id="13" name="Rounded Rectangle 12"/>
          <p:cNvSpPr/>
          <p:nvPr/>
        </p:nvSpPr>
        <p:spPr>
          <a:xfrm>
            <a:off x="579000" y="4550000"/>
            <a:ext cx="4300000" cy="1020000"/>
          </a:xfrm>
          <a:prstGeom prst="round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4" name="Oval 13"/>
          <p:cNvSpPr/>
          <p:nvPr/>
        </p:nvSpPr>
        <p:spPr>
          <a:xfrm>
            <a:off x="749000" y="4830000"/>
            <a:ext cx="460000" cy="460000"/>
          </a:xfrm>
          <a:prstGeom prst="ellipse">
            <a:avLst/>
          </a:prstGeom>
          <a:solidFill>
            <a:srgbClr val="F431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FFFFF"/>
                </a:solidFill>
              </a:rPr>
              <a:t>3</a:t>
            </a:r>
          </a:p>
        </p:txBody>
      </p:sp>
      <p:sp>
        <p:nvSpPr>
          <p:cNvPr id="15" name="TextBox 14"/>
          <p:cNvSpPr txBox="1"/>
          <p:nvPr/>
        </p:nvSpPr>
        <p:spPr>
          <a:xfrm>
            <a:off x="1379000" y="4640000"/>
            <a:ext cx="3350000" cy="840000"/>
          </a:xfrm>
          <a:prstGeom prst="rect">
            <a:avLst/>
          </a:prstGeom>
          <a:noFill/>
        </p:spPr>
        <p:txBody>
          <a:bodyPr wrap="square" lIns="0" tIns="0" rIns="0" bIns="0" anchor="ctr">
            <a:spAutoFit/>
          </a:bodyPr>
          <a:lstStyle/>
          <a:p>
            <a:r>
              <a:rPr sz="1800" b="1">
                <a:solidFill>
                  <a:srgbClr val="1A1A1A"/>
                </a:solidFill>
              </a:rPr>
              <a:t>Utility</a:t>
            </a:r>
          </a:p>
          <a:p>
            <a:r>
              <a:rPr sz="1500">
                <a:solidFill>
                  <a:srgbClr val="565349"/>
                </a:solidFill>
              </a:rPr>
              <a:t>otherwise, choose the highest mix of friends’ norm and known quality</a:t>
            </a:r>
          </a:p>
        </p:txBody>
      </p:sp>
      <p:pic>
        <p:nvPicPr>
          <p:cNvPr id="16" name="Picture 15" descr="baseline_run.gif"/>
          <p:cNvPicPr>
            <a:picLocks noChangeAspect="1"/>
          </p:cNvPicPr>
          <p:nvPr/>
        </p:nvPicPr>
        <p:blipFill>
          <a:blip r:embed="rId3"/>
          <a:stretch>
            <a:fillRect/>
          </a:stretch>
        </p:blipFill>
        <p:spPr>
          <a:xfrm>
            <a:off x="5259000" y="2250000"/>
            <a:ext cx="6354000" cy="2563416"/>
          </a:xfrm>
          <a:prstGeom prst="rect">
            <a:avLst/>
          </a:prstGeom>
        </p:spPr>
      </p:pic>
      <p:sp>
        <p:nvSpPr>
          <p:cNvPr id="17" name="TextBox 16"/>
          <p:cNvSpPr txBox="1"/>
          <p:nvPr/>
        </p:nvSpPr>
        <p:spPr>
          <a:xfrm>
            <a:off x="5259000" y="4933416"/>
            <a:ext cx="6354000" cy="700000"/>
          </a:xfrm>
          <a:prstGeom prst="rect">
            <a:avLst/>
          </a:prstGeom>
          <a:noFill/>
        </p:spPr>
        <p:txBody>
          <a:bodyPr wrap="square" lIns="0" tIns="0" rIns="0" bIns="0" anchor="t">
            <a:spAutoFit/>
          </a:bodyPr>
          <a:lstStyle/>
          <a:p>
            <a:r>
              <a:rPr sz="1500">
                <a:solidFill>
                  <a:srgbClr val="565349"/>
                </a:solidFill>
              </a:rPr>
              <a:t>One run, rebuilt in Python and Mesa: 100 consumers in a friendship network. Friends end up with the same product.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p:txBody>
          <a:bodyPr/>
          <a:lstStyle/>
          <a:p>
            <a:endParaRPr/>
          </a:p>
        </p:txBody>
      </p:sp>
      <p:sp>
        <p:nvSpPr>
          <p:cNvPr id="5" name="Title 4"/>
          <p:cNvSpPr>
            <a:spLocks noGrp="1"/>
          </p:cNvSpPr>
          <p:nvPr>
            <p:ph type="title"/>
          </p:nvPr>
        </p:nvSpPr>
        <p:spPr/>
        <p:txBody>
          <a:bodyPr/>
          <a:lstStyle/>
          <a:p>
            <a:r>
              <a:t>Baseline: strong clusters, unpredictable winner</a:t>
            </a:r>
          </a:p>
        </p:txBody>
      </p:sp>
      <p:sp>
        <p:nvSpPr>
          <p:cNvPr id="6" name="Text Placeholder 5"/>
          <p:cNvSpPr>
            <a:spLocks noGrp="1"/>
          </p:cNvSpPr>
          <p:nvPr>
            <p:ph type="body" sz="quarter" idx="17"/>
          </p:nvPr>
        </p:nvSpPr>
        <p:spPr>
          <a:xfrm>
            <a:off x="579000" y="1633071"/>
            <a:ext cx="11034000" cy="421893"/>
          </a:xfrm>
        </p:spPr>
        <p:txBody>
          <a:bodyPr/>
          <a:lstStyle/>
          <a:p>
            <a:r>
              <a:rPr dirty="0"/>
              <a:t>| </a:t>
            </a:r>
            <a:r>
              <a:rPr dirty="0" err="1"/>
              <a:t>Tasks</a:t>
            </a:r>
            <a:r>
              <a:rPr dirty="0"/>
              <a:t> 1-2 · 1000 runs, </a:t>
            </a:r>
            <a:r>
              <a:rPr dirty="0" err="1"/>
              <a:t>two</a:t>
            </a:r>
            <a:r>
              <a:rPr dirty="0"/>
              <a:t> </a:t>
            </a:r>
            <a:r>
              <a:rPr dirty="0" err="1"/>
              <a:t>equal</a:t>
            </a:r>
            <a:r>
              <a:rPr dirty="0"/>
              <a:t> </a:t>
            </a:r>
            <a:r>
              <a:rPr dirty="0" err="1"/>
              <a:t>products</a:t>
            </a:r>
            <a:endParaRPr dirty="0"/>
          </a:p>
        </p:txBody>
      </p:sp>
      <p:pic>
        <p:nvPicPr>
          <p:cNvPr id="7" name="Picture 6" descr="baseline.png"/>
          <p:cNvPicPr>
            <a:picLocks noChangeAspect="1"/>
          </p:cNvPicPr>
          <p:nvPr/>
        </p:nvPicPr>
        <p:blipFill>
          <a:blip r:embed="rId3"/>
          <a:stretch>
            <a:fillRect/>
          </a:stretch>
        </p:blipFill>
        <p:spPr>
          <a:xfrm>
            <a:off x="579000" y="2250000"/>
            <a:ext cx="7400000" cy="2674698"/>
          </a:xfrm>
          <a:prstGeom prst="rect">
            <a:avLst/>
          </a:prstGeom>
        </p:spPr>
      </p:pic>
      <p:sp>
        <p:nvSpPr>
          <p:cNvPr id="8" name="TextBox 7"/>
          <p:cNvSpPr txBox="1"/>
          <p:nvPr/>
        </p:nvSpPr>
        <p:spPr>
          <a:xfrm>
            <a:off x="8379000" y="2300000"/>
            <a:ext cx="3234000" cy="560000"/>
          </a:xfrm>
          <a:prstGeom prst="rect">
            <a:avLst/>
          </a:prstGeom>
          <a:noFill/>
        </p:spPr>
        <p:txBody>
          <a:bodyPr wrap="square" lIns="0" tIns="0" rIns="0" bIns="0" anchor="t">
            <a:spAutoFit/>
          </a:bodyPr>
          <a:lstStyle/>
          <a:p>
            <a:r>
              <a:rPr sz="3600" b="1">
                <a:solidFill>
                  <a:srgbClr val="F4313F"/>
                </a:solidFill>
              </a:rPr>
              <a:t>0.937</a:t>
            </a:r>
          </a:p>
        </p:txBody>
      </p:sp>
      <p:sp>
        <p:nvSpPr>
          <p:cNvPr id="9" name="TextBox 8"/>
          <p:cNvSpPr txBox="1"/>
          <p:nvPr/>
        </p:nvSpPr>
        <p:spPr>
          <a:xfrm>
            <a:off x="8379000" y="2900000"/>
            <a:ext cx="3234000" cy="520000"/>
          </a:xfrm>
          <a:prstGeom prst="rect">
            <a:avLst/>
          </a:prstGeom>
          <a:noFill/>
        </p:spPr>
        <p:txBody>
          <a:bodyPr wrap="square" lIns="0" tIns="0" rIns="0" bIns="0" anchor="t">
            <a:spAutoFit/>
          </a:bodyPr>
          <a:lstStyle/>
          <a:p>
            <a:r>
              <a:rPr sz="1500">
                <a:solidFill>
                  <a:srgbClr val="565349"/>
                </a:solidFill>
              </a:rPr>
              <a:t>clustering at tick 1000: friends end up with the same product</a:t>
            </a:r>
          </a:p>
        </p:txBody>
      </p:sp>
      <p:sp>
        <p:nvSpPr>
          <p:cNvPr id="10" name="TextBox 9"/>
          <p:cNvSpPr txBox="1"/>
          <p:nvPr/>
        </p:nvSpPr>
        <p:spPr>
          <a:xfrm>
            <a:off x="8379000" y="3500000"/>
            <a:ext cx="3234000" cy="560000"/>
          </a:xfrm>
          <a:prstGeom prst="rect">
            <a:avLst/>
          </a:prstGeom>
          <a:noFill/>
        </p:spPr>
        <p:txBody>
          <a:bodyPr wrap="square" lIns="0" tIns="0" rIns="0" bIns="0" anchor="t">
            <a:spAutoFit/>
          </a:bodyPr>
          <a:lstStyle/>
          <a:p>
            <a:r>
              <a:rPr sz="3600" b="1">
                <a:solidFill>
                  <a:srgbClr val="F4313F"/>
                </a:solidFill>
              </a:rPr>
              <a:t>0.11 – 0.92</a:t>
            </a:r>
          </a:p>
        </p:txBody>
      </p:sp>
      <p:sp>
        <p:nvSpPr>
          <p:cNvPr id="11" name="TextBox 10"/>
          <p:cNvSpPr txBox="1"/>
          <p:nvPr/>
        </p:nvSpPr>
        <p:spPr>
          <a:xfrm>
            <a:off x="8379000" y="4100000"/>
            <a:ext cx="3234000" cy="520000"/>
          </a:xfrm>
          <a:prstGeom prst="rect">
            <a:avLst/>
          </a:prstGeom>
          <a:noFill/>
        </p:spPr>
        <p:txBody>
          <a:bodyPr wrap="square" lIns="0" tIns="0" rIns="0" bIns="0" anchor="t">
            <a:spAutoFit/>
          </a:bodyPr>
          <a:lstStyle/>
          <a:p>
            <a:r>
              <a:rPr sz="1500">
                <a:solidFill>
                  <a:srgbClr val="565349"/>
                </a:solidFill>
              </a:rPr>
              <a:t>orange share, middle 90% of runs: same settings, different markets</a:t>
            </a:r>
          </a:p>
        </p:txBody>
      </p:sp>
      <p:sp>
        <p:nvSpPr>
          <p:cNvPr id="12" name="TextBox 11"/>
          <p:cNvSpPr txBox="1"/>
          <p:nvPr/>
        </p:nvSpPr>
        <p:spPr>
          <a:xfrm>
            <a:off x="579000" y="5100000"/>
            <a:ext cx="11034000" cy="750000"/>
          </a:xfrm>
          <a:prstGeom prst="rect">
            <a:avLst/>
          </a:prstGeom>
          <a:noFill/>
        </p:spPr>
        <p:txBody>
          <a:bodyPr wrap="square" lIns="0" tIns="0" rIns="0" bIns="0" anchor="t">
            <a:spAutoFit/>
          </a:bodyPr>
          <a:lstStyle/>
          <a:p>
            <a:r>
              <a:rPr sz="1600" b="1">
                <a:solidFill>
                  <a:srgbClr val="1A1A1A"/>
                </a:solidFill>
              </a:rPr>
              <a:t>Sensitivity:  </a:t>
            </a:r>
            <a:r>
              <a:rPr sz="1600">
                <a:solidFill>
                  <a:srgbClr val="565349"/>
                </a:solidFill>
              </a:rPr>
              <a:t>any norm creates clusters (0.54 → 0.94)  ·  a 0.05 quality gap decides the winner (0.95 vs 0.07)  ·  exploration breaks clusters (0.67 at ε = 0.2)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p:txBody>
          <a:bodyPr/>
          <a:lstStyle/>
          <a:p>
            <a:endParaRPr/>
          </a:p>
        </p:txBody>
      </p:sp>
      <p:sp>
        <p:nvSpPr>
          <p:cNvPr id="5" name="Title 4"/>
          <p:cNvSpPr>
            <a:spLocks noGrp="1"/>
          </p:cNvSpPr>
          <p:nvPr>
            <p:ph type="title"/>
          </p:nvPr>
        </p:nvSpPr>
        <p:spPr/>
        <p:txBody>
          <a:bodyPr/>
          <a:lstStyle/>
          <a:p>
            <a:r>
              <a:t>Adapting the model to a real market</a:t>
            </a:r>
          </a:p>
        </p:txBody>
      </p:sp>
      <p:sp>
        <p:nvSpPr>
          <p:cNvPr id="6" name="Text Placeholder 5"/>
          <p:cNvSpPr>
            <a:spLocks noGrp="1"/>
          </p:cNvSpPr>
          <p:nvPr>
            <p:ph type="body" sz="quarter" idx="17"/>
          </p:nvPr>
        </p:nvSpPr>
        <p:spPr>
          <a:xfrm>
            <a:off x="579000" y="1633071"/>
            <a:ext cx="11034000" cy="421893"/>
          </a:xfrm>
        </p:spPr>
        <p:txBody>
          <a:bodyPr/>
          <a:lstStyle/>
          <a:p>
            <a:r>
              <a:rPr dirty="0"/>
              <a:t>| </a:t>
            </a:r>
            <a:r>
              <a:rPr dirty="0" err="1"/>
              <a:t>Tasks</a:t>
            </a:r>
            <a:r>
              <a:rPr dirty="0"/>
              <a:t> 3-4 · </a:t>
            </a:r>
            <a:r>
              <a:rPr dirty="0" err="1"/>
              <a:t>From</a:t>
            </a:r>
            <a:r>
              <a:rPr dirty="0"/>
              <a:t> </a:t>
            </a:r>
            <a:r>
              <a:rPr dirty="0" err="1"/>
              <a:t>two</a:t>
            </a:r>
            <a:r>
              <a:rPr dirty="0"/>
              <a:t> </a:t>
            </a:r>
            <a:r>
              <a:rPr dirty="0" err="1"/>
              <a:t>products</a:t>
            </a:r>
            <a:r>
              <a:rPr dirty="0"/>
              <a:t> to </a:t>
            </a:r>
            <a:r>
              <a:rPr dirty="0" err="1"/>
              <a:t>four</a:t>
            </a:r>
            <a:r>
              <a:rPr dirty="0"/>
              <a:t> </a:t>
            </a:r>
            <a:r>
              <a:rPr dirty="0" err="1"/>
              <a:t>operators</a:t>
            </a:r>
            <a:endParaRPr dirty="0"/>
          </a:p>
        </p:txBody>
      </p:sp>
      <p:sp>
        <p:nvSpPr>
          <p:cNvPr id="7" name="Rounded Rectangle 6"/>
          <p:cNvSpPr/>
          <p:nvPr/>
        </p:nvSpPr>
        <p:spPr>
          <a:xfrm>
            <a:off x="579000" y="2250000"/>
            <a:ext cx="4950000" cy="3530000"/>
          </a:xfrm>
          <a:prstGeom prst="round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8" name="TextBox 7"/>
          <p:cNvSpPr txBox="1"/>
          <p:nvPr/>
        </p:nvSpPr>
        <p:spPr>
          <a:xfrm>
            <a:off x="859000" y="2450000"/>
            <a:ext cx="4390000" cy="420000"/>
          </a:xfrm>
          <a:prstGeom prst="rect">
            <a:avLst/>
          </a:prstGeom>
          <a:noFill/>
        </p:spPr>
        <p:txBody>
          <a:bodyPr wrap="square" lIns="0" tIns="0" rIns="0" bIns="0" anchor="t">
            <a:spAutoFit/>
          </a:bodyPr>
          <a:lstStyle/>
          <a:p>
            <a:r>
              <a:rPr sz="2000" b="1">
                <a:solidFill>
                  <a:srgbClr val="1A1A1A"/>
                </a:solidFill>
              </a:rPr>
              <a:t>Kept from the baseline</a:t>
            </a:r>
          </a:p>
        </p:txBody>
      </p:sp>
      <p:sp>
        <p:nvSpPr>
          <p:cNvPr id="9" name="TextBox 8"/>
          <p:cNvSpPr txBox="1"/>
          <p:nvPr/>
        </p:nvSpPr>
        <p:spPr>
          <a:xfrm>
            <a:off x="859000" y="2900000"/>
            <a:ext cx="4390000" cy="2780000"/>
          </a:xfrm>
          <a:prstGeom prst="rect">
            <a:avLst/>
          </a:prstGeom>
          <a:noFill/>
        </p:spPr>
        <p:txBody>
          <a:bodyPr wrap="square" lIns="0" tIns="0" rIns="0" bIns="0" anchor="t">
            <a:spAutoFit/>
          </a:bodyPr>
          <a:lstStyle/>
          <a:p>
            <a:pPr marL="285750" indent="-285750">
              <a:spcAft>
                <a:spcPts val="500"/>
              </a:spcAft>
              <a:buChar char="•"/>
            </a:pPr>
            <a:r>
              <a:rPr sz="1500">
                <a:solidFill>
                  <a:srgbClr val="1A1A1A"/>
                </a:solidFill>
              </a:rPr>
              <a:t>Social network of friends</a:t>
            </a:r>
          </a:p>
          <a:p>
            <a:pPr marL="285750" indent="-285750">
              <a:spcAft>
                <a:spcPts val="500"/>
              </a:spcAft>
              <a:buChar char="•"/>
            </a:pPr>
            <a:r>
              <a:rPr sz="1500">
                <a:solidFill>
                  <a:srgbClr val="1A1A1A"/>
                </a:solidFill>
              </a:rPr>
              <a:t>Three-step decision: habit → exploration → utility</a:t>
            </a:r>
          </a:p>
          <a:p>
            <a:pPr marL="285750" indent="-285750">
              <a:spcAft>
                <a:spcPts val="500"/>
              </a:spcAft>
              <a:buChar char="•"/>
            </a:pPr>
            <a:r>
              <a:rPr sz="1500">
                <a:solidFill>
                  <a:srgbClr val="1A1A1A"/>
                </a:solidFill>
              </a:rPr>
              <a:t>Utility from the social norm and the known quality</a:t>
            </a:r>
          </a:p>
          <a:p>
            <a:pPr marL="285750" indent="-285750">
              <a:spcAft>
                <a:spcPts val="500"/>
              </a:spcAft>
              <a:buChar char="•"/>
            </a:pPr>
            <a:r>
              <a:rPr sz="1500">
                <a:solidFill>
                  <a:srgbClr val="1A1A1A"/>
                </a:solidFill>
              </a:rPr>
              <a:t>Information and memory: consumers know only what they tried or heard</a:t>
            </a:r>
          </a:p>
        </p:txBody>
      </p:sp>
      <p:sp>
        <p:nvSpPr>
          <p:cNvPr id="10" name="Rounded Rectangle 9"/>
          <p:cNvSpPr/>
          <p:nvPr/>
        </p:nvSpPr>
        <p:spPr>
          <a:xfrm>
            <a:off x="6663000" y="2250000"/>
            <a:ext cx="4950000" cy="3530000"/>
          </a:xfrm>
          <a:prstGeom prst="roundRect">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1" name="TextBox 10"/>
          <p:cNvSpPr txBox="1"/>
          <p:nvPr/>
        </p:nvSpPr>
        <p:spPr>
          <a:xfrm>
            <a:off x="6943000" y="2450000"/>
            <a:ext cx="4390000" cy="420000"/>
          </a:xfrm>
          <a:prstGeom prst="rect">
            <a:avLst/>
          </a:prstGeom>
          <a:noFill/>
        </p:spPr>
        <p:txBody>
          <a:bodyPr wrap="square" lIns="0" tIns="0" rIns="0" bIns="0" anchor="t">
            <a:spAutoFit/>
          </a:bodyPr>
          <a:lstStyle/>
          <a:p>
            <a:r>
              <a:rPr sz="2000" b="1">
                <a:solidFill>
                  <a:srgbClr val="F4313F"/>
                </a:solidFill>
              </a:rPr>
              <a:t>Added for the telecom market</a:t>
            </a:r>
          </a:p>
        </p:txBody>
      </p:sp>
      <p:sp>
        <p:nvSpPr>
          <p:cNvPr id="12" name="TextBox 11"/>
          <p:cNvSpPr txBox="1"/>
          <p:nvPr/>
        </p:nvSpPr>
        <p:spPr>
          <a:xfrm>
            <a:off x="6943000" y="2900000"/>
            <a:ext cx="4390000" cy="2780000"/>
          </a:xfrm>
          <a:prstGeom prst="rect">
            <a:avLst/>
          </a:prstGeom>
          <a:noFill/>
        </p:spPr>
        <p:txBody>
          <a:bodyPr wrap="square" lIns="0" tIns="0" rIns="0" bIns="0" anchor="t">
            <a:spAutoFit/>
          </a:bodyPr>
          <a:lstStyle/>
          <a:p>
            <a:pPr marL="285750" indent="-285750">
              <a:spcAft>
                <a:spcPts val="500"/>
              </a:spcAft>
              <a:buChar char="•"/>
            </a:pPr>
            <a:r>
              <a:rPr sz="1500">
                <a:solidFill>
                  <a:srgbClr val="1A1A1A"/>
                </a:solidFill>
              </a:rPr>
              <a:t>Real operators and prices: MEO, NOS €42.49 · Vodafone €40.50 · DIGI €22</a:t>
            </a:r>
          </a:p>
          <a:p>
            <a:pPr marL="285750" indent="-285750">
              <a:spcAft>
                <a:spcPts val="500"/>
              </a:spcAft>
              <a:buChar char="•"/>
            </a:pPr>
            <a:r>
              <a:rPr sz="1500">
                <a:solidFill>
                  <a:srgbClr val="1A1A1A"/>
                </a:solidFill>
              </a:rPr>
              <a:t>Quality from ANACOM complaints, DIGI improving over time</a:t>
            </a:r>
          </a:p>
          <a:p>
            <a:pPr marL="285750" indent="-285750">
              <a:spcAft>
                <a:spcPts val="500"/>
              </a:spcAft>
              <a:buChar char="•"/>
            </a:pPr>
            <a:r>
              <a:rPr sz="1500">
                <a:solidFill>
                  <a:srgbClr val="1A1A1A"/>
                </a:solidFill>
              </a:rPr>
              <a:t>Contracts and legal penalties (Lei 16/2022): 24 months vs DIGI’s 3</a:t>
            </a:r>
          </a:p>
          <a:p>
            <a:pPr marL="285750" indent="-285750">
              <a:spcAft>
                <a:spcPts val="500"/>
              </a:spcAft>
              <a:buChar char="•"/>
            </a:pPr>
            <a:r>
              <a:rPr sz="1500">
                <a:solidFill>
                  <a:srgbClr val="1A1A1A"/>
                </a:solidFill>
              </a:rPr>
              <a:t>Market entry: NOWO becomes DIGI (Nov 2024)</a:t>
            </a:r>
          </a:p>
          <a:p>
            <a:pPr marL="285750" indent="-285750">
              <a:spcAft>
                <a:spcPts val="500"/>
              </a:spcAft>
              <a:buChar char="•"/>
            </a:pPr>
            <a:r>
              <a:rPr sz="1500">
                <a:solidFill>
                  <a:srgbClr val="1A1A1A"/>
                </a:solidFill>
              </a:rPr>
              <a:t>Dynamic demography: households enter and leave</a:t>
            </a:r>
          </a:p>
          <a:p>
            <a:pPr marL="285750" indent="-285750">
              <a:spcAft>
                <a:spcPts val="500"/>
              </a:spcAft>
              <a:buChar char="•"/>
            </a:pPr>
            <a:r>
              <a:rPr sz="1500">
                <a:solidFill>
                  <a:srgbClr val="1A1A1A"/>
                </a:solidFill>
              </a:rPr>
              <a:t>Prices learned by reinforcement learning (ε-greedy bandit)</a:t>
            </a:r>
          </a:p>
        </p:txBody>
      </p:sp>
      <p:sp>
        <p:nvSpPr>
          <p:cNvPr id="13" name="Right Arrow 12"/>
          <p:cNvSpPr/>
          <p:nvPr/>
        </p:nvSpPr>
        <p:spPr>
          <a:xfrm>
            <a:off x="5779000" y="3750000"/>
            <a:ext cx="634000" cy="420000"/>
          </a:xfrm>
          <a:prstGeom prst="rightArrow">
            <a:avLst/>
          </a:prstGeom>
          <a:solidFill>
            <a:srgbClr val="F43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p:txBody>
          <a:bodyPr/>
          <a:lstStyle/>
          <a:p>
            <a:endParaRPr/>
          </a:p>
        </p:txBody>
      </p:sp>
      <p:sp>
        <p:nvSpPr>
          <p:cNvPr id="5" name="Title 4"/>
          <p:cNvSpPr>
            <a:spLocks noGrp="1"/>
          </p:cNvSpPr>
          <p:nvPr>
            <p:ph type="title"/>
          </p:nvPr>
        </p:nvSpPr>
        <p:spPr/>
        <p:txBody>
          <a:bodyPr/>
          <a:lstStyle/>
          <a:p>
            <a:r>
              <a:t>Half the price, slow growth: the model reproduces it</a:t>
            </a:r>
          </a:p>
        </p:txBody>
      </p:sp>
      <p:sp>
        <p:nvSpPr>
          <p:cNvPr id="6" name="Text Placeholder 5"/>
          <p:cNvSpPr>
            <a:spLocks noGrp="1"/>
          </p:cNvSpPr>
          <p:nvPr>
            <p:ph type="body" sz="quarter" idx="17"/>
          </p:nvPr>
        </p:nvSpPr>
        <p:spPr>
          <a:xfrm>
            <a:off x="579000" y="1633071"/>
            <a:ext cx="11034000" cy="421893"/>
          </a:xfrm>
        </p:spPr>
        <p:txBody>
          <a:bodyPr/>
          <a:lstStyle/>
          <a:p>
            <a:r>
              <a:rPr dirty="0"/>
              <a:t>| </a:t>
            </a:r>
            <a:r>
              <a:rPr dirty="0" err="1"/>
              <a:t>Tasks</a:t>
            </a:r>
            <a:r>
              <a:rPr dirty="0"/>
              <a:t> 3-4 · </a:t>
            </a:r>
            <a:r>
              <a:rPr dirty="0" err="1"/>
              <a:t>The</a:t>
            </a:r>
            <a:r>
              <a:rPr dirty="0"/>
              <a:t> </a:t>
            </a:r>
            <a:r>
              <a:rPr dirty="0" err="1"/>
              <a:t>adapted</a:t>
            </a:r>
            <a:r>
              <a:rPr dirty="0"/>
              <a:t> </a:t>
            </a:r>
            <a:r>
              <a:rPr dirty="0" err="1"/>
              <a:t>model</a:t>
            </a:r>
            <a:r>
              <a:rPr dirty="0"/>
              <a:t>, </a:t>
            </a:r>
            <a:r>
              <a:rPr dirty="0" err="1"/>
              <a:t>calibrated</a:t>
            </a:r>
            <a:r>
              <a:rPr dirty="0"/>
              <a:t> </a:t>
            </a:r>
            <a:r>
              <a:t>to ANACOM data</a:t>
            </a:r>
            <a:endParaRPr dirty="0"/>
          </a:p>
        </p:txBody>
      </p:sp>
      <p:pic>
        <p:nvPicPr>
          <p:cNvPr id="7" name="Picture 6" descr="telecom_run.gif"/>
          <p:cNvPicPr>
            <a:picLocks noChangeAspect="1"/>
          </p:cNvPicPr>
          <p:nvPr/>
        </p:nvPicPr>
        <p:blipFill>
          <a:blip r:embed="rId3"/>
          <a:stretch>
            <a:fillRect/>
          </a:stretch>
        </p:blipFill>
        <p:spPr>
          <a:xfrm>
            <a:off x="579000" y="2250000"/>
            <a:ext cx="7900000" cy="3187124"/>
          </a:xfrm>
          <a:prstGeom prst="rect">
            <a:avLst/>
          </a:prstGeom>
        </p:spPr>
      </p:pic>
      <p:sp>
        <p:nvSpPr>
          <p:cNvPr id="8" name="TextBox 7"/>
          <p:cNvSpPr txBox="1"/>
          <p:nvPr/>
        </p:nvSpPr>
        <p:spPr>
          <a:xfrm>
            <a:off x="579000" y="5557124"/>
            <a:ext cx="7900000" cy="600000"/>
          </a:xfrm>
          <a:prstGeom prst="rect">
            <a:avLst/>
          </a:prstGeom>
          <a:noFill/>
        </p:spPr>
        <p:txBody>
          <a:bodyPr wrap="square" lIns="0" tIns="0" rIns="0" bIns="0" anchor="t">
            <a:spAutoFit/>
          </a:bodyPr>
          <a:lstStyle/>
          <a:p>
            <a:r>
              <a:rPr sz="1500">
                <a:solidFill>
                  <a:srgbClr val="565349"/>
                </a:solidFill>
              </a:rPr>
              <a:t>One run, 48 months: households coloured by operator (DIGI in purple from month 12); right, shares and list prices.</a:t>
            </a:r>
          </a:p>
        </p:txBody>
      </p:sp>
      <p:sp>
        <p:nvSpPr>
          <p:cNvPr id="9" name="TextBox 8"/>
          <p:cNvSpPr txBox="1"/>
          <p:nvPr/>
        </p:nvSpPr>
        <p:spPr>
          <a:xfrm>
            <a:off x="8879000" y="2250000"/>
            <a:ext cx="2734000" cy="560000"/>
          </a:xfrm>
          <a:prstGeom prst="rect">
            <a:avLst/>
          </a:prstGeom>
          <a:noFill/>
        </p:spPr>
        <p:txBody>
          <a:bodyPr wrap="square" lIns="0" tIns="0" rIns="0" bIns="0" anchor="t">
            <a:spAutoFit/>
          </a:bodyPr>
          <a:lstStyle/>
          <a:p>
            <a:r>
              <a:rPr sz="2800" b="1">
                <a:solidFill>
                  <a:srgbClr val="F4313F"/>
                </a:solidFill>
              </a:rPr>
              <a:t>€22 vs €42.49</a:t>
            </a:r>
          </a:p>
        </p:txBody>
      </p:sp>
      <p:sp>
        <p:nvSpPr>
          <p:cNvPr id="10" name="TextBox 9"/>
          <p:cNvSpPr txBox="1"/>
          <p:nvPr/>
        </p:nvSpPr>
        <p:spPr>
          <a:xfrm>
            <a:off x="8879000" y="2850000"/>
            <a:ext cx="2734000" cy="520000"/>
          </a:xfrm>
          <a:prstGeom prst="rect">
            <a:avLst/>
          </a:prstGeom>
          <a:noFill/>
        </p:spPr>
        <p:txBody>
          <a:bodyPr wrap="square" lIns="0" tIns="0" rIns="0" bIns="0" anchor="t">
            <a:spAutoFit/>
          </a:bodyPr>
          <a:lstStyle/>
          <a:p>
            <a:r>
              <a:rPr sz="1500">
                <a:solidFill>
                  <a:srgbClr val="565349"/>
                </a:solidFill>
              </a:rPr>
              <a:t>DIGI fibre + TV vs MEO and NOS</a:t>
            </a:r>
          </a:p>
        </p:txBody>
      </p:sp>
      <p:sp>
        <p:nvSpPr>
          <p:cNvPr id="11" name="TextBox 10"/>
          <p:cNvSpPr txBox="1"/>
          <p:nvPr/>
        </p:nvSpPr>
        <p:spPr>
          <a:xfrm>
            <a:off x="8879000" y="3450000"/>
            <a:ext cx="2734000" cy="560000"/>
          </a:xfrm>
          <a:prstGeom prst="rect">
            <a:avLst/>
          </a:prstGeom>
          <a:noFill/>
        </p:spPr>
        <p:txBody>
          <a:bodyPr wrap="square" lIns="0" tIns="0" rIns="0" bIns="0" anchor="t">
            <a:spAutoFit/>
          </a:bodyPr>
          <a:lstStyle/>
          <a:p>
            <a:r>
              <a:rPr sz="2800" b="1">
                <a:solidFill>
                  <a:srgbClr val="F4313F"/>
                </a:solidFill>
              </a:rPr>
              <a:t>+0.6 pp</a:t>
            </a:r>
          </a:p>
        </p:txBody>
      </p:sp>
      <p:sp>
        <p:nvSpPr>
          <p:cNvPr id="12" name="TextBox 11"/>
          <p:cNvSpPr txBox="1"/>
          <p:nvPr/>
        </p:nvSpPr>
        <p:spPr>
          <a:xfrm>
            <a:off x="8879000" y="4050000"/>
            <a:ext cx="2734000" cy="520000"/>
          </a:xfrm>
          <a:prstGeom prst="rect">
            <a:avLst/>
          </a:prstGeom>
          <a:noFill/>
        </p:spPr>
        <p:txBody>
          <a:bodyPr wrap="square" lIns="0" tIns="0" rIns="0" bIns="0" anchor="t">
            <a:spAutoFit/>
          </a:bodyPr>
          <a:lstStyle/>
          <a:p>
            <a:r>
              <a:rPr sz="1500">
                <a:solidFill>
                  <a:srgbClr val="565349"/>
                </a:solidFill>
              </a:rPr>
              <a:t>DIGI/NOWO share in 18 months: 2.6% → 3.2%</a:t>
            </a:r>
          </a:p>
        </p:txBody>
      </p:sp>
      <p:sp>
        <p:nvSpPr>
          <p:cNvPr id="13" name="TextBox 12"/>
          <p:cNvSpPr txBox="1"/>
          <p:nvPr/>
        </p:nvSpPr>
        <p:spPr>
          <a:xfrm>
            <a:off x="8879000" y="4650000"/>
            <a:ext cx="2734000" cy="560000"/>
          </a:xfrm>
          <a:prstGeom prst="rect">
            <a:avLst/>
          </a:prstGeom>
          <a:noFill/>
        </p:spPr>
        <p:txBody>
          <a:bodyPr wrap="square" lIns="0" tIns="0" rIns="0" bIns="0" anchor="t">
            <a:spAutoFit/>
          </a:bodyPr>
          <a:lstStyle/>
          <a:p>
            <a:r>
              <a:rPr sz="2800" b="1">
                <a:solidFill>
                  <a:srgbClr val="F4313F"/>
                </a:solidFill>
              </a:rPr>
              <a:t>3.2% = 3.2%</a:t>
            </a:r>
          </a:p>
        </p:txBody>
      </p:sp>
      <p:sp>
        <p:nvSpPr>
          <p:cNvPr id="14" name="TextBox 13"/>
          <p:cNvSpPr txBox="1"/>
          <p:nvPr/>
        </p:nvSpPr>
        <p:spPr>
          <a:xfrm>
            <a:off x="8879000" y="5250000"/>
            <a:ext cx="2734000" cy="520000"/>
          </a:xfrm>
          <a:prstGeom prst="rect">
            <a:avLst/>
          </a:prstGeom>
          <a:noFill/>
        </p:spPr>
        <p:txBody>
          <a:bodyPr wrap="square" lIns="0" tIns="0" rIns="0" bIns="0" anchor="t">
            <a:spAutoFit/>
          </a:bodyPr>
          <a:lstStyle/>
          <a:p>
            <a:r>
              <a:rPr sz="1500">
                <a:solidFill>
                  <a:srgbClr val="565349"/>
                </a:solidFill>
              </a:rPr>
              <a:t>model vs ANACOM at month 28 (error 0.22 pp)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p:txBody>
          <a:bodyPr/>
          <a:lstStyle/>
          <a:p>
            <a:endParaRPr/>
          </a:p>
        </p:txBody>
      </p:sp>
      <p:sp>
        <p:nvSpPr>
          <p:cNvPr id="5" name="Title 4"/>
          <p:cNvSpPr>
            <a:spLocks noGrp="1"/>
          </p:cNvSpPr>
          <p:nvPr>
            <p:ph type="title"/>
          </p:nvPr>
        </p:nvSpPr>
        <p:spPr/>
        <p:txBody>
          <a:bodyPr/>
          <a:lstStyle/>
          <a:p>
            <a:r>
              <a:t>Incumbents learn their price by trial and error</a:t>
            </a:r>
          </a:p>
        </p:txBody>
      </p:sp>
      <p:sp>
        <p:nvSpPr>
          <p:cNvPr id="6" name="Text Placeholder 5"/>
          <p:cNvSpPr>
            <a:spLocks noGrp="1"/>
          </p:cNvSpPr>
          <p:nvPr>
            <p:ph type="body" sz="quarter" idx="17"/>
          </p:nvPr>
        </p:nvSpPr>
        <p:spPr>
          <a:xfrm>
            <a:off x="579000" y="1633071"/>
            <a:ext cx="11034000" cy="421893"/>
          </a:xfrm>
        </p:spPr>
        <p:txBody>
          <a:bodyPr/>
          <a:lstStyle/>
          <a:p>
            <a:r>
              <a:t>| Task 5 · Reinforcement learning: ε-greedy multi-armed bandit</a:t>
            </a:r>
          </a:p>
        </p:txBody>
      </p:sp>
      <p:sp>
        <p:nvSpPr>
          <p:cNvPr id="7" name="Rounded Rectangle 6"/>
          <p:cNvSpPr/>
          <p:nvPr/>
        </p:nvSpPr>
        <p:spPr>
          <a:xfrm>
            <a:off x="579000" y="2250000"/>
            <a:ext cx="2650000" cy="1150000"/>
          </a:xfrm>
          <a:prstGeom prst="round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wrap="square" lIns="150000" tIns="150000" rIns="150000" bIns="150000" rtlCol="0" anchor="ctr"/>
          <a:lstStyle/>
          <a:p>
            <a:pPr algn="ctr"/>
            <a:r>
              <a:rPr sz="1800" b="1">
                <a:solidFill>
                  <a:srgbClr val="F4313F"/>
                </a:solidFill>
              </a:rPr>
              <a:t>Choose a price</a:t>
            </a:r>
          </a:p>
          <a:p>
            <a:r>
              <a:rPr sz="1500">
                <a:solidFill>
                  <a:srgbClr val="1A1A1A"/>
                </a:solidFill>
              </a:rPr>
              <a:t>list × 1.00 · 0.95 · 0.90 · 0.85 · 0.80
90% best so far, 10% random</a:t>
            </a:r>
          </a:p>
        </p:txBody>
      </p:sp>
      <p:sp>
        <p:nvSpPr>
          <p:cNvPr id="8" name="Rounded Rectangle 7"/>
          <p:cNvSpPr/>
          <p:nvPr/>
        </p:nvSpPr>
        <p:spPr>
          <a:xfrm>
            <a:off x="3829000" y="2250000"/>
            <a:ext cx="2650000" cy="1150000"/>
          </a:xfrm>
          <a:prstGeom prst="round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wrap="square" lIns="150000" tIns="150000" rIns="150000" bIns="150000" rtlCol="0" anchor="ctr"/>
          <a:lstStyle/>
          <a:p>
            <a:pPr algn="ctr"/>
            <a:r>
              <a:rPr sz="1800" b="1">
                <a:solidFill>
                  <a:srgbClr val="F4313F"/>
                </a:solidFill>
              </a:rPr>
              <a:t>Consumers react</a:t>
            </a:r>
          </a:p>
          <a:p>
            <a:r>
              <a:rPr sz="1500">
                <a:solidFill>
                  <a:srgbClr val="1A1A1A"/>
                </a:solidFill>
              </a:rPr>
              <a:t>3 months of habit, friends, prices and contracts</a:t>
            </a:r>
          </a:p>
        </p:txBody>
      </p:sp>
      <p:sp>
        <p:nvSpPr>
          <p:cNvPr id="9" name="Rounded Rectangle 8"/>
          <p:cNvSpPr/>
          <p:nvPr/>
        </p:nvSpPr>
        <p:spPr>
          <a:xfrm>
            <a:off x="3829000" y="3780000"/>
            <a:ext cx="2650000" cy="1150000"/>
          </a:xfrm>
          <a:prstGeom prst="round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wrap="square" lIns="150000" tIns="150000" rIns="150000" bIns="150000" rtlCol="0" anchor="ctr"/>
          <a:lstStyle/>
          <a:p>
            <a:pPr algn="ctr"/>
            <a:r>
              <a:rPr sz="1800" b="1">
                <a:solidFill>
                  <a:srgbClr val="F4313F"/>
                </a:solidFill>
              </a:rPr>
              <a:t>Reward</a:t>
            </a:r>
          </a:p>
          <a:p>
            <a:r>
              <a:rPr sz="1500">
                <a:solidFill>
                  <a:srgbClr val="1A1A1A"/>
                </a:solidFill>
              </a:rPr>
              <a:t>profit of the quarter (margin 40%)</a:t>
            </a:r>
          </a:p>
        </p:txBody>
      </p:sp>
      <p:sp>
        <p:nvSpPr>
          <p:cNvPr id="10" name="Rounded Rectangle 9"/>
          <p:cNvSpPr/>
          <p:nvPr/>
        </p:nvSpPr>
        <p:spPr>
          <a:xfrm>
            <a:off x="579000" y="3780000"/>
            <a:ext cx="2650000" cy="1150000"/>
          </a:xfrm>
          <a:prstGeom prst="round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wrap="square" lIns="150000" tIns="150000" rIns="150000" bIns="150000" rtlCol="0" anchor="ctr"/>
          <a:lstStyle/>
          <a:p>
            <a:pPr algn="ctr"/>
            <a:r>
              <a:rPr sz="1800" b="1">
                <a:solidFill>
                  <a:srgbClr val="F4313F"/>
                </a:solidFill>
              </a:rPr>
              <a:t>Update the value</a:t>
            </a:r>
          </a:p>
          <a:p>
            <a:r>
              <a:rPr sz="1500">
                <a:solidFill>
                  <a:srgbClr val="1A1A1A"/>
                </a:solidFill>
              </a:rPr>
              <a:t>Q ← Q + 0.2 · (reward − Q)</a:t>
            </a:r>
          </a:p>
        </p:txBody>
      </p:sp>
      <p:sp>
        <p:nvSpPr>
          <p:cNvPr id="11" name="Right Arrow 10"/>
          <p:cNvSpPr/>
          <p:nvPr/>
        </p:nvSpPr>
        <p:spPr>
          <a:xfrm>
            <a:off x="3349000" y="2665000"/>
            <a:ext cx="360000" cy="320000"/>
          </a:xfrm>
          <a:prstGeom prst="rightArrow">
            <a:avLst/>
          </a:prstGeom>
          <a:solidFill>
            <a:srgbClr val="F43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Down Arrow 11"/>
          <p:cNvSpPr/>
          <p:nvPr/>
        </p:nvSpPr>
        <p:spPr>
          <a:xfrm>
            <a:off x="4994000" y="3470000"/>
            <a:ext cx="320000" cy="240000"/>
          </a:xfrm>
          <a:prstGeom prst="downArrow">
            <a:avLst/>
          </a:prstGeom>
          <a:solidFill>
            <a:srgbClr val="F43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Left Arrow 12"/>
          <p:cNvSpPr/>
          <p:nvPr/>
        </p:nvSpPr>
        <p:spPr>
          <a:xfrm>
            <a:off x="3349000" y="4195000"/>
            <a:ext cx="360000" cy="320000"/>
          </a:xfrm>
          <a:prstGeom prst="leftArrow">
            <a:avLst/>
          </a:prstGeom>
          <a:solidFill>
            <a:srgbClr val="F43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Up Arrow 13"/>
          <p:cNvSpPr/>
          <p:nvPr/>
        </p:nvSpPr>
        <p:spPr>
          <a:xfrm>
            <a:off x="1744000" y="3470000"/>
            <a:ext cx="320000" cy="240000"/>
          </a:xfrm>
          <a:prstGeom prst="upArrow">
            <a:avLst/>
          </a:prstGeom>
          <a:solidFill>
            <a:srgbClr val="F43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029000" y="2250000"/>
            <a:ext cx="4584000" cy="3430000"/>
          </a:xfrm>
          <a:prstGeom prst="rect">
            <a:avLst/>
          </a:prstGeom>
          <a:noFill/>
        </p:spPr>
        <p:txBody>
          <a:bodyPr wrap="square" lIns="0" tIns="0" rIns="0" bIns="0" anchor="t">
            <a:spAutoFit/>
          </a:bodyPr>
          <a:lstStyle/>
          <a:p>
            <a:pPr>
              <a:spcAft>
                <a:spcPts val="1400"/>
              </a:spcAft>
            </a:pPr>
            <a:r>
              <a:rPr sz="1600" b="1">
                <a:solidFill>
                  <a:srgbClr val="1A1A1A"/>
                </a:solidFill>
              </a:rPr>
              <a:t>Agents  </a:t>
            </a:r>
            <a:r>
              <a:rPr sz="1600">
                <a:solidFill>
                  <a:srgbClr val="565349"/>
                </a:solidFill>
              </a:rPr>
              <a:t>MEO, NOS and Vodafone, from DIGI’s entry; DIGI stays at €22</a:t>
            </a:r>
          </a:p>
          <a:p>
            <a:pPr>
              <a:spcAft>
                <a:spcPts val="1400"/>
              </a:spcAft>
            </a:pPr>
            <a:r>
              <a:rPr sz="1600" b="1">
                <a:solidFill>
                  <a:srgbClr val="1A1A1A"/>
                </a:solidFill>
              </a:rPr>
              <a:t>Start  </a:t>
            </a:r>
            <a:r>
              <a:rPr sz="1600">
                <a:solidFill>
                  <a:srgbClr val="565349"/>
                </a:solidFill>
              </a:rPr>
              <a:t>each price is tried once, in random order</a:t>
            </a:r>
          </a:p>
          <a:p>
            <a:pPr>
              <a:spcAft>
                <a:spcPts val="1400"/>
              </a:spcAft>
            </a:pPr>
            <a:r>
              <a:rPr sz="1600" b="1">
                <a:solidFill>
                  <a:srgbClr val="1A1A1A"/>
                </a:solidFill>
              </a:rPr>
              <a:t>Information  </a:t>
            </a:r>
            <a:r>
              <a:rPr sz="1600">
                <a:solidFill>
                  <a:srgbClr val="565349"/>
                </a:solidFill>
              </a:rPr>
              <a:t>own profit only: no firm sees or talks to the others</a:t>
            </a:r>
          </a:p>
          <a:p>
            <a:pPr>
              <a:spcAft>
                <a:spcPts val="1400"/>
              </a:spcAft>
            </a:pPr>
            <a:r>
              <a:rPr sz="1600" b="1">
                <a:solidFill>
                  <a:srgbClr val="1A1A1A"/>
                </a:solidFill>
              </a:rPr>
              <a:t>Test  </a:t>
            </a:r>
            <a:r>
              <a:rPr sz="1600">
                <a:solidFill>
                  <a:srgbClr val="565349"/>
                </a:solidFill>
              </a:rPr>
              <a:t>vs fixed-price scenarios, same random numbers, 30 runs × 10 years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p:txBody>
          <a:bodyPr/>
          <a:lstStyle/>
          <a:p>
            <a:endParaRPr/>
          </a:p>
        </p:txBody>
      </p:sp>
      <p:sp>
        <p:nvSpPr>
          <p:cNvPr id="5" name="Title 4"/>
          <p:cNvSpPr>
            <a:spLocks noGrp="1"/>
          </p:cNvSpPr>
          <p:nvPr>
            <p:ph type="title"/>
          </p:nvPr>
        </p:nvSpPr>
        <p:spPr/>
        <p:txBody>
          <a:bodyPr/>
          <a:lstStyle/>
          <a:p>
            <a:r>
              <a:t>Learned prices return to the list price</a:t>
            </a:r>
          </a:p>
        </p:txBody>
      </p:sp>
      <p:sp>
        <p:nvSpPr>
          <p:cNvPr id="6" name="Text Placeholder 5"/>
          <p:cNvSpPr>
            <a:spLocks noGrp="1"/>
          </p:cNvSpPr>
          <p:nvPr>
            <p:ph type="body" sz="quarter" idx="17"/>
          </p:nvPr>
        </p:nvSpPr>
        <p:spPr>
          <a:xfrm>
            <a:off x="579000" y="1633071"/>
            <a:ext cx="11034000" cy="421893"/>
          </a:xfrm>
        </p:spPr>
        <p:txBody>
          <a:bodyPr/>
          <a:lstStyle/>
          <a:p>
            <a:r>
              <a:rPr dirty="0"/>
              <a:t>| </a:t>
            </a:r>
            <a:r>
              <a:rPr dirty="0" err="1"/>
              <a:t>Task</a:t>
            </a:r>
            <a:r>
              <a:rPr dirty="0"/>
              <a:t> 5 · </a:t>
            </a:r>
            <a:r>
              <a:rPr dirty="0" err="1"/>
              <a:t>List</a:t>
            </a:r>
            <a:r>
              <a:rPr dirty="0"/>
              <a:t> </a:t>
            </a:r>
            <a:r>
              <a:rPr dirty="0" err="1"/>
              <a:t>price</a:t>
            </a:r>
            <a:r>
              <a:rPr dirty="0"/>
              <a:t> </a:t>
            </a:r>
            <a:r>
              <a:rPr dirty="0" err="1"/>
              <a:t>chosen</a:t>
            </a:r>
            <a:r>
              <a:rPr dirty="0"/>
              <a:t> in 85-88% </a:t>
            </a:r>
            <a:r>
              <a:rPr dirty="0" err="1"/>
              <a:t>of</a:t>
            </a:r>
            <a:r>
              <a:rPr dirty="0"/>
              <a:t> </a:t>
            </a:r>
            <a:r>
              <a:rPr dirty="0" err="1"/>
              <a:t>decisions</a:t>
            </a:r>
            <a:r>
              <a:rPr dirty="0"/>
              <a:t> in </a:t>
            </a:r>
            <a:r>
              <a:rPr dirty="0" err="1"/>
              <a:t>years</a:t>
            </a:r>
            <a:r>
              <a:rPr dirty="0"/>
              <a:t> 6-10</a:t>
            </a:r>
          </a:p>
        </p:txBody>
      </p:sp>
      <p:pic>
        <p:nvPicPr>
          <p:cNvPr id="7" name="Picture 6" descr="learned.png"/>
          <p:cNvPicPr>
            <a:picLocks noChangeAspect="1"/>
          </p:cNvPicPr>
          <p:nvPr/>
        </p:nvPicPr>
        <p:blipFill>
          <a:blip r:embed="rId3"/>
          <a:stretch>
            <a:fillRect/>
          </a:stretch>
        </p:blipFill>
        <p:spPr>
          <a:xfrm>
            <a:off x="1099000" y="2300000"/>
            <a:ext cx="9994000" cy="361228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p:txBody>
          <a:bodyPr/>
          <a:lstStyle/>
          <a:p>
            <a:endParaRPr/>
          </a:p>
        </p:txBody>
      </p:sp>
      <p:sp>
        <p:nvSpPr>
          <p:cNvPr id="5" name="Title 4"/>
          <p:cNvSpPr>
            <a:spLocks noGrp="1"/>
          </p:cNvSpPr>
          <p:nvPr>
            <p:ph type="title"/>
          </p:nvPr>
        </p:nvSpPr>
        <p:spPr/>
        <p:txBody>
          <a:bodyPr/>
          <a:lstStyle/>
          <a:p>
            <a:r>
              <a:t>Cutting prices together costs far more than it saves</a:t>
            </a:r>
          </a:p>
        </p:txBody>
      </p:sp>
      <p:sp>
        <p:nvSpPr>
          <p:cNvPr id="6" name="Text Placeholder 5"/>
          <p:cNvSpPr>
            <a:spLocks noGrp="1"/>
          </p:cNvSpPr>
          <p:nvPr>
            <p:ph type="body" sz="quarter" idx="17"/>
          </p:nvPr>
        </p:nvSpPr>
        <p:spPr>
          <a:xfrm>
            <a:off x="579000" y="1633071"/>
            <a:ext cx="11034000" cy="421893"/>
          </a:xfrm>
        </p:spPr>
        <p:txBody>
          <a:bodyPr/>
          <a:lstStyle/>
          <a:p>
            <a:r>
              <a:t>| Task 6 · Joint incumbent profit over 10 years vs all at list price</a:t>
            </a:r>
          </a:p>
        </p:txBody>
      </p:sp>
      <p:pic>
        <p:nvPicPr>
          <p:cNvPr id="7" name="Picture 6" descr="profit.png"/>
          <p:cNvPicPr>
            <a:picLocks noChangeAspect="1"/>
          </p:cNvPicPr>
          <p:nvPr/>
        </p:nvPicPr>
        <p:blipFill>
          <a:blip r:embed="rId3"/>
          <a:stretch>
            <a:fillRect/>
          </a:stretch>
        </p:blipFill>
        <p:spPr>
          <a:xfrm>
            <a:off x="1479000" y="2250000"/>
            <a:ext cx="9234000" cy="35600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p:txBody>
          <a:bodyPr/>
          <a:lstStyle/>
          <a:p>
            <a:endParaRPr/>
          </a:p>
        </p:txBody>
      </p:sp>
      <p:sp>
        <p:nvSpPr>
          <p:cNvPr id="5" name="Title 4"/>
          <p:cNvSpPr>
            <a:spLocks noGrp="1"/>
          </p:cNvSpPr>
          <p:nvPr>
            <p:ph type="title"/>
          </p:nvPr>
        </p:nvSpPr>
        <p:spPr/>
        <p:txBody>
          <a:bodyPr/>
          <a:lstStyle/>
          <a:p>
            <a:r>
              <a:t>Each gains alone, all lose together</a:t>
            </a:r>
          </a:p>
        </p:txBody>
      </p:sp>
      <p:sp>
        <p:nvSpPr>
          <p:cNvPr id="6" name="Text Placeholder 5"/>
          <p:cNvSpPr>
            <a:spLocks noGrp="1"/>
          </p:cNvSpPr>
          <p:nvPr>
            <p:ph type="body" sz="quarter" idx="17"/>
          </p:nvPr>
        </p:nvSpPr>
        <p:spPr>
          <a:xfrm>
            <a:off x="579000" y="1633071"/>
            <a:ext cx="11034000" cy="421893"/>
          </a:xfrm>
        </p:spPr>
        <p:txBody>
          <a:bodyPr/>
          <a:lstStyle/>
          <a:p>
            <a:r>
              <a:t>| Task 6 · Results, robustness and conclusions</a:t>
            </a:r>
          </a:p>
        </p:txBody>
      </p:sp>
      <p:graphicFrame>
        <p:nvGraphicFramePr>
          <p:cNvPr id="7" name="Table 6"/>
          <p:cNvGraphicFramePr>
            <a:graphicFrameLocks noGrp="1"/>
          </p:cNvGraphicFramePr>
          <p:nvPr/>
        </p:nvGraphicFramePr>
        <p:xfrm>
          <a:off x="579000" y="2250000"/>
          <a:ext cx="5600000" cy="1900000"/>
        </p:xfrm>
        <a:graphic>
          <a:graphicData uri="http://schemas.openxmlformats.org/drawingml/2006/table">
            <a:tbl>
              <a:tblPr firstRow="1" bandRow="1">
                <a:tableStyleId>{5C22544A-7EE6-4342-B048-85BDC9FD1C3A}</a:tableStyleId>
              </a:tblPr>
              <a:tblGrid>
                <a:gridCol w="1700000">
                  <a:extLst>
                    <a:ext uri="{9D8B030D-6E8A-4147-A177-3AD203B41FA5}">
                      <a16:colId xmlns:a16="http://schemas.microsoft.com/office/drawing/2014/main" val="20000"/>
                    </a:ext>
                  </a:extLst>
                </a:gridCol>
                <a:gridCol w="1950000">
                  <a:extLst>
                    <a:ext uri="{9D8B030D-6E8A-4147-A177-3AD203B41FA5}">
                      <a16:colId xmlns:a16="http://schemas.microsoft.com/office/drawing/2014/main" val="20001"/>
                    </a:ext>
                  </a:extLst>
                </a:gridCol>
                <a:gridCol w="1950000">
                  <a:extLst>
                    <a:ext uri="{9D8B030D-6E8A-4147-A177-3AD203B41FA5}">
                      <a16:colId xmlns:a16="http://schemas.microsoft.com/office/drawing/2014/main" val="20002"/>
                    </a:ext>
                  </a:extLst>
                </a:gridCol>
              </a:tblGrid>
              <a:tr h="475000">
                <a:tc>
                  <a:txBody>
                    <a:bodyPr/>
                    <a:lstStyle/>
                    <a:p>
                      <a:pPr algn="l"/>
                      <a:r>
                        <a:rPr sz="1500" b="1">
                          <a:solidFill>
                            <a:srgbClr val="FFFFFF"/>
                          </a:solidFill>
                        </a:rPr>
                        <a:t>Own profit vs list</a:t>
                      </a:r>
                    </a:p>
                  </a:txBody>
                  <a:tcPr marL="120000" marR="120000" anchor="ctr">
                    <a:solidFill>
                      <a:srgbClr val="F4313F"/>
                    </a:solidFill>
                  </a:tcPr>
                </a:tc>
                <a:tc>
                  <a:txBody>
                    <a:bodyPr/>
                    <a:lstStyle/>
                    <a:p>
                      <a:pPr algn="ctr"/>
                      <a:r>
                        <a:rPr sz="1500" b="1">
                          <a:solidFill>
                            <a:srgbClr val="FFFFFF"/>
                          </a:solidFill>
                        </a:rPr>
                        <a:t>Cuts alone to ×0.90</a:t>
                      </a:r>
                    </a:p>
                  </a:txBody>
                  <a:tcPr marL="120000" marR="120000" anchor="ctr">
                    <a:solidFill>
                      <a:srgbClr val="F4313F"/>
                    </a:solidFill>
                  </a:tcPr>
                </a:tc>
                <a:tc>
                  <a:txBody>
                    <a:bodyPr/>
                    <a:lstStyle/>
                    <a:p>
                      <a:pPr algn="ctr"/>
                      <a:r>
                        <a:rPr sz="1500" b="1">
                          <a:solidFill>
                            <a:srgbClr val="FFFFFF"/>
                          </a:solidFill>
                        </a:rPr>
                        <a:t>All cut to ×0.90</a:t>
                      </a:r>
                    </a:p>
                  </a:txBody>
                  <a:tcPr marL="120000" marR="120000" anchor="ctr">
                    <a:solidFill>
                      <a:srgbClr val="F4313F"/>
                    </a:solidFill>
                  </a:tcPr>
                </a:tc>
                <a:extLst>
                  <a:ext uri="{0D108BD9-81ED-4DB2-BD59-A6C34878D82A}">
                    <a16:rowId xmlns:a16="http://schemas.microsoft.com/office/drawing/2014/main" val="10000"/>
                  </a:ext>
                </a:extLst>
              </a:tr>
              <a:tr h="475000">
                <a:tc>
                  <a:txBody>
                    <a:bodyPr/>
                    <a:lstStyle/>
                    <a:p>
                      <a:pPr algn="l"/>
                      <a:r>
                        <a:rPr sz="1600" b="1">
                          <a:solidFill>
                            <a:srgbClr val="1A1A1A"/>
                          </a:solidFill>
                        </a:rPr>
                        <a:t>MEO</a:t>
                      </a:r>
                    </a:p>
                  </a:txBody>
                  <a:tcPr marL="120000" marR="120000" anchor="ctr">
                    <a:solidFill>
                      <a:srgbClr val="F3F3F1"/>
                    </a:solidFill>
                  </a:tcPr>
                </a:tc>
                <a:tc>
                  <a:txBody>
                    <a:bodyPr/>
                    <a:lstStyle/>
                    <a:p>
                      <a:pPr algn="ctr"/>
                      <a:r>
                        <a:rPr sz="1600" b="1">
                          <a:solidFill>
                            <a:srgbClr val="1E7B3C"/>
                          </a:solidFill>
                        </a:rPr>
                        <a:t>+14.9%</a:t>
                      </a:r>
                    </a:p>
                  </a:txBody>
                  <a:tcPr marL="120000" marR="120000" anchor="ctr">
                    <a:solidFill>
                      <a:srgbClr val="F3F3F1"/>
                    </a:solidFill>
                  </a:tcPr>
                </a:tc>
                <a:tc>
                  <a:txBody>
                    <a:bodyPr/>
                    <a:lstStyle/>
                    <a:p>
                      <a:pPr algn="ctr"/>
                      <a:r>
                        <a:rPr sz="1600" b="1">
                          <a:solidFill>
                            <a:srgbClr val="F4313F"/>
                          </a:solidFill>
                        </a:rPr>
                        <a:t>−18.3%</a:t>
                      </a:r>
                    </a:p>
                  </a:txBody>
                  <a:tcPr marL="120000" marR="120000" anchor="ctr">
                    <a:solidFill>
                      <a:srgbClr val="F3F3F1"/>
                    </a:solidFill>
                  </a:tcPr>
                </a:tc>
                <a:extLst>
                  <a:ext uri="{0D108BD9-81ED-4DB2-BD59-A6C34878D82A}">
                    <a16:rowId xmlns:a16="http://schemas.microsoft.com/office/drawing/2014/main" val="10001"/>
                  </a:ext>
                </a:extLst>
              </a:tr>
              <a:tr h="475000">
                <a:tc>
                  <a:txBody>
                    <a:bodyPr/>
                    <a:lstStyle/>
                    <a:p>
                      <a:pPr algn="l"/>
                      <a:r>
                        <a:rPr sz="1600" b="1">
                          <a:solidFill>
                            <a:srgbClr val="1A1A1A"/>
                          </a:solidFill>
                        </a:rPr>
                        <a:t>NOS</a:t>
                      </a:r>
                    </a:p>
                  </a:txBody>
                  <a:tcPr marL="120000" marR="120000" anchor="ctr">
                    <a:solidFill>
                      <a:srgbClr val="FFFFFF"/>
                    </a:solidFill>
                  </a:tcPr>
                </a:tc>
                <a:tc>
                  <a:txBody>
                    <a:bodyPr/>
                    <a:lstStyle/>
                    <a:p>
                      <a:pPr algn="ctr"/>
                      <a:r>
                        <a:rPr sz="1600" b="1">
                          <a:solidFill>
                            <a:srgbClr val="1E7B3C"/>
                          </a:solidFill>
                        </a:rPr>
                        <a:t>+19.3%</a:t>
                      </a:r>
                    </a:p>
                  </a:txBody>
                  <a:tcPr marL="120000" marR="120000" anchor="ctr">
                    <a:solidFill>
                      <a:srgbClr val="FFFFFF"/>
                    </a:solidFill>
                  </a:tcPr>
                </a:tc>
                <a:tc>
                  <a:txBody>
                    <a:bodyPr/>
                    <a:lstStyle/>
                    <a:p>
                      <a:pPr algn="ctr"/>
                      <a:r>
                        <a:rPr sz="1600" b="1">
                          <a:solidFill>
                            <a:srgbClr val="F4313F"/>
                          </a:solidFill>
                        </a:rPr>
                        <a:t>−8.7%</a:t>
                      </a:r>
                    </a:p>
                  </a:txBody>
                  <a:tcPr marL="120000" marR="120000" anchor="ctr">
                    <a:solidFill>
                      <a:srgbClr val="FFFFFF"/>
                    </a:solidFill>
                  </a:tcPr>
                </a:tc>
                <a:extLst>
                  <a:ext uri="{0D108BD9-81ED-4DB2-BD59-A6C34878D82A}">
                    <a16:rowId xmlns:a16="http://schemas.microsoft.com/office/drawing/2014/main" val="10002"/>
                  </a:ext>
                </a:extLst>
              </a:tr>
              <a:tr h="475000">
                <a:tc>
                  <a:txBody>
                    <a:bodyPr/>
                    <a:lstStyle/>
                    <a:p>
                      <a:pPr algn="l"/>
                      <a:r>
                        <a:rPr sz="1600" b="1">
                          <a:solidFill>
                            <a:srgbClr val="1A1A1A"/>
                          </a:solidFill>
                        </a:rPr>
                        <a:t>Vodafone</a:t>
                      </a:r>
                    </a:p>
                  </a:txBody>
                  <a:tcPr marL="120000" marR="120000" anchor="ctr">
                    <a:solidFill>
                      <a:srgbClr val="F3F3F1"/>
                    </a:solidFill>
                  </a:tcPr>
                </a:tc>
                <a:tc>
                  <a:txBody>
                    <a:bodyPr/>
                    <a:lstStyle/>
                    <a:p>
                      <a:pPr algn="ctr"/>
                      <a:r>
                        <a:rPr sz="1600" b="1">
                          <a:solidFill>
                            <a:srgbClr val="1E7B3C"/>
                          </a:solidFill>
                        </a:rPr>
                        <a:t>+36.2%</a:t>
                      </a:r>
                    </a:p>
                  </a:txBody>
                  <a:tcPr marL="120000" marR="120000" anchor="ctr">
                    <a:solidFill>
                      <a:srgbClr val="F3F3F1"/>
                    </a:solidFill>
                  </a:tcPr>
                </a:tc>
                <a:tc>
                  <a:txBody>
                    <a:bodyPr/>
                    <a:lstStyle/>
                    <a:p>
                      <a:pPr algn="ctr"/>
                      <a:r>
                        <a:rPr sz="1600" b="1">
                          <a:solidFill>
                            <a:srgbClr val="F4313F"/>
                          </a:solidFill>
                        </a:rPr>
                        <a:t>−30.5%</a:t>
                      </a:r>
                    </a:p>
                  </a:txBody>
                  <a:tcPr marL="120000" marR="120000" anchor="ctr">
                    <a:solidFill>
                      <a:srgbClr val="F3F3F1"/>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579000" y="4400000"/>
            <a:ext cx="5600000" cy="1300000"/>
          </a:xfrm>
          <a:prstGeom prst="rect">
            <a:avLst/>
          </a:prstGeom>
          <a:noFill/>
        </p:spPr>
        <p:txBody>
          <a:bodyPr wrap="square" lIns="0" tIns="0" rIns="0" bIns="0" anchor="t">
            <a:spAutoFit/>
          </a:bodyPr>
          <a:lstStyle/>
          <a:p>
            <a:r>
              <a:rPr sz="1600" b="1">
                <a:solidFill>
                  <a:srgbClr val="1A1A1A"/>
                </a:solidFill>
              </a:rPr>
              <a:t>Robust to 9 changes  </a:t>
            </a:r>
            <a:r>
              <a:rPr sz="1600">
                <a:solidFill>
                  <a:srgbClr val="565349"/>
                </a:solidFill>
              </a:rPr>
              <a:t>(quality spread, exits, initial contracts, renewal discount, lock-in, margin): a solo cut pays for NOS and Vodafone in all; learned prices stay at 0.97–0.98 × list.</a:t>
            </a:r>
          </a:p>
        </p:txBody>
      </p:sp>
      <p:sp>
        <p:nvSpPr>
          <p:cNvPr id="9" name="Rounded Rectangle 8"/>
          <p:cNvSpPr/>
          <p:nvPr/>
        </p:nvSpPr>
        <p:spPr>
          <a:xfrm>
            <a:off x="6629000" y="2250000"/>
            <a:ext cx="4984000" cy="3530000"/>
          </a:xfrm>
          <a:prstGeom prst="roundRect">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0" name="TextBox 9"/>
          <p:cNvSpPr txBox="1"/>
          <p:nvPr/>
        </p:nvSpPr>
        <p:spPr>
          <a:xfrm>
            <a:off x="6929000" y="2430000"/>
            <a:ext cx="4384000" cy="420000"/>
          </a:xfrm>
          <a:prstGeom prst="rect">
            <a:avLst/>
          </a:prstGeom>
          <a:noFill/>
        </p:spPr>
        <p:txBody>
          <a:bodyPr wrap="square" lIns="0" tIns="0" rIns="0" bIns="0" anchor="t">
            <a:spAutoFit/>
          </a:bodyPr>
          <a:lstStyle/>
          <a:p>
            <a:r>
              <a:rPr sz="2000" b="1">
                <a:solidFill>
                  <a:srgbClr val="F4313F"/>
                </a:solidFill>
              </a:rPr>
              <a:t>Conclusions</a:t>
            </a:r>
          </a:p>
        </p:txBody>
      </p:sp>
      <p:sp>
        <p:nvSpPr>
          <p:cNvPr id="11" name="Oval 10"/>
          <p:cNvSpPr/>
          <p:nvPr/>
        </p:nvSpPr>
        <p:spPr>
          <a:xfrm>
            <a:off x="6929000" y="3000000"/>
            <a:ext cx="420000" cy="420000"/>
          </a:xfrm>
          <a:prstGeom prst="ellipse">
            <a:avLst/>
          </a:prstGeom>
          <a:solidFill>
            <a:srgbClr val="F431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rgbClr val="FFFFFF"/>
                </a:solidFill>
              </a:rPr>
              <a:t>1</a:t>
            </a:r>
          </a:p>
        </p:txBody>
      </p:sp>
      <p:sp>
        <p:nvSpPr>
          <p:cNvPr id="12" name="TextBox 11"/>
          <p:cNvSpPr txBox="1"/>
          <p:nvPr/>
        </p:nvSpPr>
        <p:spPr>
          <a:xfrm>
            <a:off x="7479000" y="2970000"/>
            <a:ext cx="3834000" cy="900000"/>
          </a:xfrm>
          <a:prstGeom prst="rect">
            <a:avLst/>
          </a:prstGeom>
          <a:noFill/>
        </p:spPr>
        <p:txBody>
          <a:bodyPr wrap="square" lIns="0" tIns="0" rIns="0" bIns="0" anchor="t">
            <a:spAutoFit/>
          </a:bodyPr>
          <a:lstStyle/>
          <a:p>
            <a:r>
              <a:rPr sz="1600" b="1">
                <a:solidFill>
                  <a:srgbClr val="1A1A1A"/>
                </a:solidFill>
              </a:rPr>
              <a:t>Contracts and habit slow a cheap rival</a:t>
            </a:r>
          </a:p>
          <a:p>
            <a:r>
              <a:rPr sz="1500">
                <a:solidFill>
                  <a:srgbClr val="565349"/>
                </a:solidFill>
              </a:rPr>
              <a:t>DIGI reaches 3.2% only after 16 months</a:t>
            </a:r>
          </a:p>
        </p:txBody>
      </p:sp>
      <p:sp>
        <p:nvSpPr>
          <p:cNvPr id="13" name="Oval 12"/>
          <p:cNvSpPr/>
          <p:nvPr/>
        </p:nvSpPr>
        <p:spPr>
          <a:xfrm>
            <a:off x="6929000" y="4000000"/>
            <a:ext cx="420000" cy="420000"/>
          </a:xfrm>
          <a:prstGeom prst="ellipse">
            <a:avLst/>
          </a:prstGeom>
          <a:solidFill>
            <a:srgbClr val="F431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rgbClr val="FFFFFF"/>
                </a:solidFill>
              </a:rPr>
              <a:t>2</a:t>
            </a:r>
          </a:p>
        </p:txBody>
      </p:sp>
      <p:sp>
        <p:nvSpPr>
          <p:cNvPr id="14" name="TextBox 13"/>
          <p:cNvSpPr txBox="1"/>
          <p:nvPr/>
        </p:nvSpPr>
        <p:spPr>
          <a:xfrm>
            <a:off x="7479000" y="3970000"/>
            <a:ext cx="3834000" cy="900000"/>
          </a:xfrm>
          <a:prstGeom prst="rect">
            <a:avLst/>
          </a:prstGeom>
          <a:noFill/>
        </p:spPr>
        <p:txBody>
          <a:bodyPr wrap="square" lIns="0" tIns="0" rIns="0" bIns="0" anchor="t">
            <a:spAutoFit/>
          </a:bodyPr>
          <a:lstStyle/>
          <a:p>
            <a:r>
              <a:rPr sz="1600" b="1">
                <a:solidFill>
                  <a:srgbClr val="1A1A1A"/>
                </a:solidFill>
              </a:rPr>
              <a:t>List price is not an equilibrium</a:t>
            </a:r>
          </a:p>
          <a:p>
            <a:r>
              <a:rPr sz="1500">
                <a:solidFill>
                  <a:srgbClr val="565349"/>
                </a:solidFill>
              </a:rPr>
              <a:t>each incumbent gains by cutting alone</a:t>
            </a:r>
          </a:p>
        </p:txBody>
      </p:sp>
      <p:sp>
        <p:nvSpPr>
          <p:cNvPr id="15" name="Oval 14"/>
          <p:cNvSpPr/>
          <p:nvPr/>
        </p:nvSpPr>
        <p:spPr>
          <a:xfrm>
            <a:off x="6929000" y="5000000"/>
            <a:ext cx="420000" cy="420000"/>
          </a:xfrm>
          <a:prstGeom prst="ellipse">
            <a:avLst/>
          </a:prstGeom>
          <a:solidFill>
            <a:srgbClr val="F431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rgbClr val="FFFFFF"/>
                </a:solidFill>
              </a:rPr>
              <a:t>3</a:t>
            </a:r>
          </a:p>
        </p:txBody>
      </p:sp>
      <p:sp>
        <p:nvSpPr>
          <p:cNvPr id="16" name="TextBox 15"/>
          <p:cNvSpPr txBox="1"/>
          <p:nvPr/>
        </p:nvSpPr>
        <p:spPr>
          <a:xfrm>
            <a:off x="7479000" y="4970000"/>
            <a:ext cx="3834000" cy="900000"/>
          </a:xfrm>
          <a:prstGeom prst="rect">
            <a:avLst/>
          </a:prstGeom>
          <a:noFill/>
        </p:spPr>
        <p:txBody>
          <a:bodyPr wrap="square" lIns="0" tIns="0" rIns="0" bIns="0" anchor="t">
            <a:spAutoFit/>
          </a:bodyPr>
          <a:lstStyle/>
          <a:p>
            <a:r>
              <a:rPr sz="1600" b="1">
                <a:solidFill>
                  <a:srgbClr val="1A1A1A"/>
                </a:solidFill>
              </a:rPr>
              <a:t>Simple learners stay near list price</a:t>
            </a:r>
          </a:p>
          <a:p>
            <a:r>
              <a:rPr sz="1500">
                <a:solidFill>
                  <a:srgbClr val="565349"/>
                </a:solidFill>
              </a:rPr>
              <a:t>no communication; as observed, main brands kept prices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Modelo de apresentação personalizado">
  <a:themeElements>
    <a:clrScheme name="FEP">
      <a:dk1>
        <a:srgbClr val="000000"/>
      </a:dk1>
      <a:lt1>
        <a:srgbClr val="FFFFFF"/>
      </a:lt1>
      <a:dk2>
        <a:srgbClr val="565349"/>
      </a:dk2>
      <a:lt2>
        <a:srgbClr val="DDDDDD"/>
      </a:lt2>
      <a:accent1>
        <a:srgbClr val="F4313F"/>
      </a:accent1>
      <a:accent2>
        <a:srgbClr val="FF6566"/>
      </a:accent2>
      <a:accent3>
        <a:srgbClr val="FEB5B5"/>
      </a:accent3>
      <a:accent4>
        <a:srgbClr val="BEBBB3"/>
      </a:accent4>
      <a:accent5>
        <a:srgbClr val="858585"/>
      </a:accent5>
      <a:accent6>
        <a:srgbClr val="3F3F3F"/>
      </a:accent6>
      <a:hlink>
        <a:srgbClr val="8B8B8B"/>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261</TotalTime>
  <Words>1766</Words>
  <Application>Microsoft Office PowerPoint</Application>
  <PresentationFormat>Widescreen</PresentationFormat>
  <Paragraphs>97</Paragraphs>
  <Slides>10</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Modelo de apresentação personalizado</vt:lpstr>
      <vt:lpstr>How do incumbents respond when a low-cost rival enters?</vt:lpstr>
      <vt:lpstr>Consumer Choice: habit, exploration, utility</vt:lpstr>
      <vt:lpstr>Baseline: strong clusters, unpredictable winner</vt:lpstr>
      <vt:lpstr>Adapting the model to a real market</vt:lpstr>
      <vt:lpstr>Half the price, slow growth: the model reproduces it</vt:lpstr>
      <vt:lpstr>Incumbents learn their price by trial and error</vt:lpstr>
      <vt:lpstr>Learned prices return to the list price</vt:lpstr>
      <vt:lpstr>Cutting prices together costs far more than it saves</vt:lpstr>
      <vt:lpstr>Each gains alone, all lose together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André Pires</dc:creator>
  <cp:lastModifiedBy>André Pires</cp:lastModifiedBy>
  <cp:revision>4</cp:revision>
  <dcterms:created xsi:type="dcterms:W3CDTF">2022-06-09T16:10:25Z</dcterms:created>
  <dcterms:modified xsi:type="dcterms:W3CDTF">2026-10-30T16:10:11Z</dcterms:modified>
</cp:coreProperties>
</file>